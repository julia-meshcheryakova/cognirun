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029c589154402" /><Relationship Type="http://schemas.openxmlformats.org/officeDocument/2006/relationships/extended-properties" Target="/docProps/app.xml" Id="R8a17e52a468f4a23" /><Relationship Type="http://schemas.openxmlformats.org/officeDocument/2006/relationships/officeDocument" Target="/ppt/presentation.xml" Id="Rd63ffe3e75c941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98fd22fdd24fa1"/>
  </p:sldMasterIdLst>
  <p:notesMasterIdLst>
    <p:notesMasterId xmlns:r="http://schemas.openxmlformats.org/officeDocument/2006/relationships" r:id="Race29fbcc5f54906"/>
  </p:notesMasterIdLst>
  <p:sldIdLst>
    <p:sldId xmlns:r="http://schemas.openxmlformats.org/officeDocument/2006/relationships" id="256" r:id="R717323dd94ca4264"/>
    <p:sldId xmlns:r="http://schemas.openxmlformats.org/officeDocument/2006/relationships" id="257" r:id="R8a627fba02d44d11"/>
    <p:sldId xmlns:r="http://schemas.openxmlformats.org/officeDocument/2006/relationships" id="258" r:id="R61fe69c7670b421b"/>
    <p:sldId xmlns:r="http://schemas.openxmlformats.org/officeDocument/2006/relationships" id="259" r:id="Rff50cde474d149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31239d56c9463e" /><Relationship Type="http://schemas.openxmlformats.org/officeDocument/2006/relationships/slideMaster" Target="/ppt/slideMasters/slideMaster1.xml" Id="Rc698fd22fdd24fa1" /><Relationship Type="http://schemas.openxmlformats.org/officeDocument/2006/relationships/notesMaster" Target="/ppt/notesMasters/notesMaster1.xml" Id="Race29fbcc5f54906" /><Relationship Type="http://schemas.openxmlformats.org/officeDocument/2006/relationships/presProps" Target="/ppt/presProps.xml" Id="Rf934e1e3105744d1" /><Relationship Type="http://schemas.openxmlformats.org/officeDocument/2006/relationships/tableStyles" Target="/ppt/tableStyles.xml" Id="R11a37d2754994b95" /><Relationship Type="http://schemas.openxmlformats.org/officeDocument/2006/relationships/slide" Target="/ppt/slides/slide1.xml" Id="R717323dd94ca4264" /><Relationship Type="http://schemas.openxmlformats.org/officeDocument/2006/relationships/slide" Target="/ppt/slides/slide2.xml" Id="R8a627fba02d44d11" /><Relationship Type="http://schemas.openxmlformats.org/officeDocument/2006/relationships/slide" Target="/ppt/slides/slide3.xml" Id="R61fe69c7670b421b" /><Relationship Type="http://schemas.openxmlformats.org/officeDocument/2006/relationships/slide" Target="/ppt/slides/slide4.xml" Id="Rff50cde474d149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52510cfc7a4a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a1a5db31c495b" /><Relationship Type="http://schemas.openxmlformats.org/officeDocument/2006/relationships/notesMaster" Target="/ppt/notesMasters/notesMaster1.xml" Id="R9a1556c900f748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3bd60b7a864568" /><Relationship Type="http://schemas.openxmlformats.org/officeDocument/2006/relationships/notesMaster" Target="/ppt/notesMasters/notesMaster1.xml" Id="R7c6e32150422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4613e5591497a" /><Relationship Type="http://schemas.openxmlformats.org/officeDocument/2006/relationships/notesMaster" Target="/ppt/notesMasters/notesMaster1.xml" Id="Rd7cdacc3027442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f42c203f3947c4" /><Relationship Type="http://schemas.openxmlformats.org/officeDocument/2006/relationships/notesMaster" Target="/ppt/notesMasters/notesMaster1.xml" Id="R2cd2b46f24ae4c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does not give us one perfect pace. A 2024 synthesis of 113 studies found a small average acute effect, with outcomes varying by task and timing. In one Stanford experiment, walking increased divergent idea generation while a convergent one-answer task dipped slightly. CogniRun turns that nuance into a personal, task-specific scan—not an IQ test or a medical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Garrett et al. (2024), https://www.nature.com/articles/s44271-024-00124-2</a:t>
            </a:r>
          </a:p>
          <a:p xmlns:a="http://schemas.openxmlformats.org/drawingml/2006/main">
            <a:r>
              <a:t>- Oppezzo &amp; Schwartz (2014), https://aaalab.stanford.edu/assets/papers/2014/Give_your_ideas_some_legs.pdf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she is running in Zone 2. A question reaches her headphones; she answers without stopping; and CogniRun checks the task key. At that same moment the app links accuracy and wall-clock response time to heart rate and pace, then schedules the comparable recovery probe. The synchronized Brain × Body record is the product. This prototype screen truthfully labels ROXFIT sandbox and browser voice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Runner/Garmin footage supplied by the user: marketing/cognirun-ad/public/video/runner-garmin.mov.</a:t>
            </a:r>
          </a:p>
          <a:p xmlns:a="http://schemas.openxmlformats.org/drawingml/2006/main">
            <a:r>
              <a:t>- Current CogniRun live-screen capture generated locally from the repository at 430×932.</a:t>
            </a:r>
          </a:p>
          <a:p xmlns:a="http://schemas.openxmlformats.org/drawingml/2006/main">
            <a:r>
              <a:t>- Wohlwend et al. (2017), https://www.frontiersin.org/journals/psychology/articles/10.3389/fpsyg.2017.00406/full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consumer wedge is immediate utility: prepare for interviews, driving theory or memory tasks under realistic load. If runners repeat because it is useful, scientists can package opt-in protocols as joinable challenges. Only then do clearly labelled sponsor packs and prizes become a funding layer. It is a staged route—consumer utility first, research infrastructure second, sponsorship third—not three businesses we claim are live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go-to-market model; no current customer, revenue, sponsorship or enrollment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payoff: for this illustrative matched-logic scan, walking was strongest at 108 relative to a seated reference of 100. Performance dipped in Zone 3 and recovered to 105 after five minutes. That is an early, task-specific signal—not IQ and not a participant finding. Repeat the same protocol to test whether the pattern 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deterministic demo values; not participant findings.</a:t>
            </a:r>
          </a:p>
          <a:p xmlns:a="http://schemas.openxmlformats.org/drawingml/2006/main">
            <a:r>
              <a:t>- Larson et al. (2024), https://pubmed.ncbi.nlm.nih.gov/38538194/</a:t>
            </a:r>
          </a:p>
          <a:p xmlns:a="http://schemas.openxmlformats.org/drawingml/2006/main">
            <a:r>
              <a:t>- Public prototype QR target: https://dreamy-meringue-246d16.netlify.app/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74d542b1d4d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8eef44452c4f1a" /><Relationship Type="http://schemas.openxmlformats.org/officeDocument/2006/relationships/slideLayout" Target="/ppt/slideLayouts/slideLayout1.xml" Id="R9d7d41c77e2e47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d41c77e2e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cccacc8374cd2" /><Relationship Type="http://schemas.openxmlformats.org/officeDocument/2006/relationships/notesSlide" Target="/ppt/notesSlides/notesSlide1.xml" Id="R1c58cb9db73f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173073aed495c" /><Relationship Type="http://schemas.openxmlformats.org/officeDocument/2006/relationships/image" Target="/ppt/media/image.gif" Id="Rc15093a408104ffb" /><Relationship Type="http://schemas.openxmlformats.org/officeDocument/2006/relationships/image" Target="/ppt/media/image.png" Id="R3cd7df8f29ae4c5f" /><Relationship Type="http://schemas.openxmlformats.org/officeDocument/2006/relationships/notesSlide" Target="/ppt/notesSlides/notesSlide2.xml" Id="R8f0db9f5061b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5c6a132a418a" /><Relationship Type="http://schemas.openxmlformats.org/officeDocument/2006/relationships/notesSlide" Target="/ppt/notesSlides/notesSlide3.xml" Id="Rb264a2e07db7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e9221167c4fa3" /><Relationship Type="http://schemas.openxmlformats.org/officeDocument/2006/relationships/image" Target="/ppt/media/image2.png" Id="Rb6dd23fcf35a4875" /><Relationship Type="http://schemas.openxmlformats.org/officeDocument/2006/relationships/chart" Target="/ppt/slides/charts/chart1.xml" Id="R3895961466c64c02" /><Relationship Type="http://schemas.openxmlformats.org/officeDocument/2006/relationships/notesSlide" Target="/ppt/notesSlides/notesSlide4.xml" Id="R51a49313969e4ff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CogniIndex</c:v>
          </c:tx>
          <c:spPr>
            <a:ln xmlns:a="http://schemas.openxmlformats.org/drawingml/2006/main" w="38100">
              <a:solidFill>
                <a:srgbClr val="B195FF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B195FF"/>
              </a:solidFill>
            </c:spPr>
          </c:marker>
          <c:dPt>
            <c:idx val="0"/>
            <c:spPr>
              <a:solidFill xmlns:a="http://schemas.openxmlformats.org/drawingml/2006/main">
                <a:srgbClr val="F4F2E9"/>
              </a:solidFill>
              <a:ln xmlns:a="http://schemas.openxmlformats.org/drawingml/2006/main" w="19050">
                <a:solidFill>
                  <a:srgbClr val="080B0D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D9FF63"/>
              </a:solidFill>
              <a:ln xmlns:a="http://schemas.openxmlformats.org/drawingml/2006/main" w="19050">
                <a:solidFill>
                  <a:srgbClr val="080B0D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B195FF"/>
              </a:solidFill>
              <a:ln xmlns:a="http://schemas.openxmlformats.org/drawingml/2006/main" w="19050">
                <a:solidFill>
                  <a:srgbClr val="080B0D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FF705C"/>
              </a:solidFill>
              <a:ln xmlns:a="http://schemas.openxmlformats.org/drawingml/2006/main" w="19050">
                <a:solidFill>
                  <a:srgbClr val="080B0D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9DFF8"/>
              </a:solidFill>
              <a:ln xmlns:a="http://schemas.openxmlformats.org/drawingml/2006/main" w="19050">
                <a:solidFill>
                  <a:srgbClr val="080B0D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69DFF8"/>
              </a:solidFill>
              <a:ln xmlns:a="http://schemas.openxmlformats.org/drawingml/2006/main" w="19050">
                <a:solidFill>
                  <a:srgbClr val="080B0D"/>
                </a:solidFill>
                <a:prstDash val="solid"/>
              </a:ln>
            </c:spPr>
          </c:dPt>
          <c:cat>
            <c:strLit>
              <c:ptCount val="6"/>
              <c:pt idx="0">
                <c:v>Seated</c:v>
              </c:pt>
              <c:pt idx="1">
                <c:v>Walk</c:v>
              </c:pt>
              <c:pt idx="2">
                <c:v>Zone 2</c:v>
              </c:pt>
              <c:pt idx="3">
                <c:v>Zone 3</c:v>
              </c:pt>
              <c:pt idx="4">
                <c:v>Recovery</c:v>
              </c:pt>
              <c:pt idx="5">
                <c:v>+5 min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108</c:v>
              </c:pt>
              <c:pt idx="2">
                <c:v>104</c:v>
              </c:pt>
              <c:pt idx="3">
                <c:v>91</c:v>
              </c:pt>
              <c:pt idx="4">
                <c:v>97</c:v>
              </c:pt>
              <c:pt idx="5">
                <c:v>105</c:v>
              </c:pt>
            </c:numLit>
          </c:val>
          <c:smooth val="0"/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4F2E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31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DF1E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313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731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7A39D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80B0D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80B0D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vender-wash">
            <a:extLst xmlns:a="http://schemas.openxmlformats.org/drawingml/2006/main">
              <a:ext uri="{FF2B5EF4-FFF2-40B4-BE49-F238E27FC236}">
                <a16:creationId xmlns:a16="http://schemas.microsoft.com/office/drawing/2014/main" id="{8AD0FC17-B036-4C5F-B725-CA5D7335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B0D"/>
              </a:gs>
              <a:gs pos="66000">
                <a:srgbClr val="0C1115"/>
              </a:gs>
              <a:gs pos="100000">
                <a:srgbClr val="B195FF">
                  <a:alpha val="9412"/>
                </a:srgbClr>
              </a:gs>
            </a:gsLst>
            <a:lin ang="66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549E0C5-15E3-42D0-94E6-78AFB16B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F63"/>
                </a:solidFill>
              </a:defRPr>
            </a:pPr>
            <a:r>
              <a:rPr sz="1200" b="1">
                <a:solidFill>
                  <a:srgbClr val="D9FF63"/>
                </a:solidFill>
              </a:rPr>
              <a:t>COGNIRUN · BRAIN × BODY PERFORMANCE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E6F4095-B71E-4F04-BE8B-E5A6EA0A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4F2E9"/>
                </a:solidFill>
              </a:defRPr>
            </a:pPr>
            <a:r>
              <a:rPr sz="4800" b="1">
                <a:solidFill>
                  <a:srgbClr val="F4F2E9"/>
                </a:solidFill>
              </a:rPr>
              <a:t>Find the pace of</a:t>
            </a:r>
          </a:p>
        </p:txBody>
      </p:sp>
      <p:sp>
        <p:nvSpPr>
          <p:cNvPr id="4" name="lead-one">
            <a:extLst xmlns:a="http://schemas.openxmlformats.org/drawingml/2006/main">
              <a:ext uri="{FF2B5EF4-FFF2-40B4-BE49-F238E27FC236}">
                <a16:creationId xmlns:a16="http://schemas.microsoft.com/office/drawing/2014/main" id="{C1465C91-9F0E-4A74-ADBA-0355AF44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D9FF63"/>
                </a:solidFill>
              </a:defRPr>
            </a:pPr>
            <a:r>
              <a:rPr sz="4800" b="1">
                <a:solidFill>
                  <a:srgbClr val="D9FF63"/>
                </a:solidFill>
              </a:rPr>
              <a:t>your best thinking.</a:t>
            </a:r>
          </a:p>
        </p:txBody>
      </p:sp>
      <p:sp>
        <p:nvSpPr>
          <p:cNvPr id="5" name="lead-two">
            <a:extLst xmlns:a="http://schemas.openxmlformats.org/drawingml/2006/main">
              <a:ext uri="{FF2B5EF4-FFF2-40B4-BE49-F238E27FC236}">
                <a16:creationId xmlns:a16="http://schemas.microsoft.com/office/drawing/2014/main" id="{D325E24B-F0D4-4956-A6EF-489AFD4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4F2E9"/>
                </a:solidFill>
              </a:defRPr>
            </a:pPr>
            <a:r>
              <a:rPr sz="3900" b="1">
                <a:solidFill>
                  <a:srgbClr val="F4F2E9"/>
                </a:solidFill>
              </a:rPr>
              <a:t>BODY</a:t>
            </a:r>
          </a:p>
        </p:txBody>
      </p:sp>
      <p:sp>
        <p:nvSpPr>
          <p:cNvPr id="6" name="lead-three">
            <a:extLst xmlns:a="http://schemas.openxmlformats.org/drawingml/2006/main">
              <a:ext uri="{FF2B5EF4-FFF2-40B4-BE49-F238E27FC236}">
                <a16:creationId xmlns:a16="http://schemas.microsoft.com/office/drawing/2014/main" id="{817D90BE-4BC3-4156-950E-48976B6F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152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800" b="1">
                <a:solidFill>
                  <a:srgbClr val="B195FF"/>
                </a:solidFill>
              </a:defRPr>
            </a:pPr>
            <a:r>
              <a:rPr sz="7800" b="1">
                <a:solidFill>
                  <a:srgbClr val="B195FF"/>
                </a:solidFill>
              </a:rPr>
              <a:t>×</a:t>
            </a:r>
          </a:p>
        </p:txBody>
      </p:sp>
      <p:sp>
        <p:nvSpPr>
          <p:cNvPr id="7" name="positioning-rule">
            <a:extLst xmlns:a="http://schemas.openxmlformats.org/drawingml/2006/main">
              <a:ext uri="{FF2B5EF4-FFF2-40B4-BE49-F238E27FC236}">
                <a16:creationId xmlns:a16="http://schemas.microsoft.com/office/drawing/2014/main" id="{B755D993-32D5-4FD4-87D5-7DDA1603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unchline">
            <a:extLst xmlns:a="http://schemas.openxmlformats.org/drawingml/2006/main">
              <a:ext uri="{FF2B5EF4-FFF2-40B4-BE49-F238E27FC236}">
                <a16:creationId xmlns:a16="http://schemas.microsoft.com/office/drawing/2014/main" id="{57EAB869-B62B-40B6-BECF-C7FCD84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4F2E9"/>
                </a:solidFill>
              </a:defRPr>
            </a:pPr>
            <a:r>
              <a:rPr sz="3900" b="1">
                <a:solidFill>
                  <a:srgbClr val="F4F2E9"/>
                </a:solidFill>
              </a:rPr>
              <a:t>BRAIN</a:t>
            </a:r>
          </a:p>
        </p:txBody>
      </p:sp>
      <p:sp>
        <p:nvSpPr>
          <p:cNvPr id="9" name="proof-line">
            <a:extLst xmlns:a="http://schemas.openxmlformats.org/drawingml/2006/main">
              <a:ext uri="{FF2B5EF4-FFF2-40B4-BE49-F238E27FC236}">
                <a16:creationId xmlns:a16="http://schemas.microsoft.com/office/drawing/2014/main" id="{2EFC874C-E338-4758-A6F2-2EA84580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DF1ED"/>
                </a:solidFill>
              </a:defRPr>
            </a:pPr>
            <a:r>
              <a:rPr sz="2025" b="1">
                <a:solidFill>
                  <a:srgbClr val="EDF1ED"/>
                </a:solidFill>
              </a:rPr>
              <a:t>A voice-first scan compares how you perform sitting, walking, running and recovering.</a:t>
            </a:r>
          </a:p>
        </p:txBody>
      </p:sp>
      <p:sp>
        <p:nvSpPr>
          <p:cNvPr id="10" name="qualifier">
            <a:extLst xmlns:a="http://schemas.openxmlformats.org/drawingml/2006/main">
              <a:ext uri="{FF2B5EF4-FFF2-40B4-BE49-F238E27FC236}">
                <a16:creationId xmlns:a16="http://schemas.microsoft.com/office/drawing/2014/main" id="{DE090F83-0138-47BA-B797-18E71452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195FF"/>
                </a:solidFill>
              </a:defRPr>
            </a:pPr>
            <a:r>
              <a:rPr sz="1275" b="1">
                <a:solidFill>
                  <a:srgbClr val="B195FF"/>
                </a:solidFill>
              </a:rPr>
              <a:t>Provisional · task-specific · baseline-relative · not IQ</a:t>
            </a:r>
          </a:p>
        </p:txBody>
      </p:sp>
      <p:sp>
        <p:nvSpPr>
          <p:cNvPr id="11" name="runner-emoji">
            <a:extLst xmlns:a="http://schemas.openxmlformats.org/drawingml/2006/main">
              <a:ext uri="{FF2B5EF4-FFF2-40B4-BE49-F238E27FC236}">
                <a16:creationId xmlns:a16="http://schemas.microsoft.com/office/drawing/2014/main" id="{D092ADA0-DAE3-4781-94FE-9071B68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7A39D"/>
                </a:solidFill>
              </a:defRPr>
            </a:pPr>
            <a:r>
              <a:rPr sz="1125" b="1">
                <a:solidFill>
                  <a:srgbClr val="97A39D"/>
                </a:solidFill>
              </a:rPr>
              <a:t>113-STUDY SYNTHESIS · SMALL AVERAGE EFFECT · OUTCOMES VARY BY TASK + TIMING</a:t>
            </a:r>
          </a:p>
        </p:txBody>
      </p:sp>
    </p:spTree>
    <p:extLst>
      <p:ext uri="{BB962C8B-B14F-4D97-AF65-F5344CB8AC3E}">
        <p14:creationId xmlns:p14="http://schemas.microsoft.com/office/powerpoint/2010/main" val="725870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mo-glow">
            <a:extLst xmlns:a="http://schemas.openxmlformats.org/drawingml/2006/main">
              <a:ext uri="{FF2B5EF4-FFF2-40B4-BE49-F238E27FC236}">
                <a16:creationId xmlns:a16="http://schemas.microsoft.com/office/drawing/2014/main" id="{55C88D19-AD84-480D-AAF5-E80A6221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B0D"/>
              </a:gs>
              <a:gs pos="66000">
                <a:srgbClr val="0C1115"/>
              </a:gs>
              <a:gs pos="100000">
                <a:srgbClr val="D9FF63">
                  <a:alpha val="9412"/>
                </a:srgbClr>
              </a:gs>
            </a:gsLst>
            <a:lin ang="66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FA1F9B8-34F0-46D6-BA8E-18ED209C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F63"/>
                </a:solidFill>
              </a:defRPr>
            </a:pPr>
            <a:r>
              <a:rPr sz="1200" b="1">
                <a:solidFill>
                  <a:srgbClr val="D9FF63"/>
                </a:solidFill>
              </a:rPr>
              <a:t>LIVE CHECKPOINT · ZONE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6354A4-3894-4B9A-B166-BA2A6C6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048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4F2E9"/>
                </a:solidFill>
              </a:defRPr>
            </a:pPr>
            <a:r>
              <a:rPr sz="3300" b="1">
                <a:solidFill>
                  <a:srgbClr val="F4F2E9"/>
                </a:solidFill>
              </a:rPr>
              <a:t>The run asks.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4F2E9"/>
                </a:solidFill>
              </a:defRPr>
            </a:pPr>
            <a:r>
              <a:rPr sz="3300" b="1">
                <a:solidFill>
                  <a:srgbClr val="F4F2E9"/>
                </a:solidFill>
              </a:rPr>
              <a:t>You answer.</a:t>
            </a:r>
          </a:p>
        </p:txBody>
      </p:sp>
      <p:sp>
        <p:nvSpPr>
          <p:cNvPr id="4" name="runner-label">
            <a:extLst xmlns:a="http://schemas.openxmlformats.org/drawingml/2006/main">
              <a:ext uri="{FF2B5EF4-FFF2-40B4-BE49-F238E27FC236}">
                <a16:creationId xmlns:a16="http://schemas.microsoft.com/office/drawing/2014/main" id="{AEA48C55-920C-4444-98F6-F446B35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2E9"/>
                </a:solidFill>
              </a:defRPr>
            </a:pPr>
            <a:r>
              <a:rPr sz="1050" b="1">
                <a:solidFill>
                  <a:srgbClr val="F4F2E9"/>
                </a:solidFill>
              </a:rPr>
              <a:t>USER-SUPPLIED RUNNER · GARMIN</a:t>
            </a:r>
          </a:p>
        </p:txBody>
      </p:sp>
      <p:sp>
        <p:nvSpPr>
          <p:cNvPr id="5" name="runner-frame">
            <a:extLst xmlns:a="http://schemas.openxmlformats.org/drawingml/2006/main">
              <a:ext uri="{FF2B5EF4-FFF2-40B4-BE49-F238E27FC236}">
                <a16:creationId xmlns:a16="http://schemas.microsoft.com/office/drawing/2014/main" id="{7237D992-A09C-4B72-9AA7-264C0ED2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oundRect">
            <a:avLst>
              <a:gd name="adj" fmla="val 5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093a408104ffb"/>
          <a:srcRect xmlns:a="http://schemas.openxmlformats.org/drawingml/2006/main" l="0" t="6452" r="0" b="6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E651EB01-F005-4012-A0A7-C5DF6CB0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0"/>
            <a:ext cx="180975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6C55E8"/>
                </a:solidFill>
              </a:defRPr>
            </a:pPr>
            <a:r>
              <a:rPr sz="3900" b="1">
                <a:solidFill>
                  <a:srgbClr val="6C55E8"/>
                </a:solidFill>
              </a:rPr>
              <a:t/>
            </a:r>
          </a:p>
        </p:txBody>
      </p:sp>
      <p:sp>
        <p:nvSpPr>
          <p:cNvPr id="8" name="flow-copy">
            <a:extLst xmlns:a="http://schemas.openxmlformats.org/drawingml/2006/main">
              <a:ext uri="{FF2B5EF4-FFF2-40B4-BE49-F238E27FC236}">
                <a16:creationId xmlns:a16="http://schemas.microsoft.com/office/drawing/2014/main" id="{EE963154-CA9B-41F3-AC9B-A27BA83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00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9DFF8"/>
                </a:solidFill>
              </a:defRPr>
            </a:pPr>
            <a:r>
              <a:rPr sz="1275" b="1">
                <a:solidFill>
                  <a:srgbClr val="69DFF8"/>
                </a:solidFill>
              </a:rPr>
              <a:t>NEXT · delayed recall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69DFF8"/>
                </a:solidFill>
              </a:defRPr>
            </a:pPr>
            <a:r>
              <a:rPr sz="1275" b="1">
                <a:solidFill>
                  <a:srgbClr val="69DFF8"/>
                </a:solidFill>
              </a:rPr>
              <a:t>at +5 min recovery</a:t>
            </a:r>
          </a:p>
        </p:txBody>
      </p:sp>
      <p:sp>
        <p:nvSpPr>
          <p:cNvPr id="9" name="app-label">
            <a:extLst xmlns:a="http://schemas.openxmlformats.org/drawingml/2006/main">
              <a:ext uri="{FF2B5EF4-FFF2-40B4-BE49-F238E27FC236}">
                <a16:creationId xmlns:a16="http://schemas.microsoft.com/office/drawing/2014/main" id="{9AD33666-6EFE-45BB-97E4-C63E0ED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9DFF8"/>
                </a:solidFill>
              </a:defRPr>
            </a:pPr>
            <a:r>
              <a:rPr sz="1125" b="1">
                <a:solidFill>
                  <a:srgbClr val="69DFF8"/>
                </a:solidFill>
              </a:rPr>
              <a:t>ZONE 2 · 138 BPM · 6:00 /KM</a:t>
            </a:r>
          </a:p>
        </p:txBody>
      </p:sp>
      <p:sp>
        <p:nvSpPr>
          <p:cNvPr id="10" name="phone-frame">
            <a:extLst xmlns:a="http://schemas.openxmlformats.org/drawingml/2006/main">
              <a:ext uri="{FF2B5EF4-FFF2-40B4-BE49-F238E27FC236}">
                <a16:creationId xmlns:a16="http://schemas.microsoft.com/office/drawing/2014/main" id="{E5C40A10-7750-4D88-BD54-7514ED0E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2362200" cy="4000500"/>
          </a:xfrm>
          <a:prstGeom xmlns:a="http://schemas.openxmlformats.org/drawingml/2006/main" prst="roundRect">
            <a:avLst>
              <a:gd name="adj" fmla="val 967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1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7df8f29ae4c5f"/>
          <a:stretch xmlns:a="http://schemas.openxmlformats.org/drawingml/2006/main"/>
        </p:blipFill>
        <p:spPr>
          <a:xfrm xmlns:a="http://schemas.openxmlformats.org/drawingml/2006/main">
            <a:off x="6798234" y="2057400"/>
            <a:ext cx="1757833" cy="38100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12" name="demo-step-one">
            <a:extLst xmlns:a="http://schemas.openxmlformats.org/drawingml/2006/main">
              <a:ext uri="{FF2B5EF4-FFF2-40B4-BE49-F238E27FC236}">
                <a16:creationId xmlns:a16="http://schemas.microsoft.com/office/drawing/2014/main" id="{A9B4536F-CC42-4D1B-9B65-D7CA959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195FF"/>
                </a:solidFill>
              </a:defRPr>
            </a:pPr>
            <a:r>
              <a:rPr sz="1125" b="1">
                <a:solidFill>
                  <a:srgbClr val="B195FF"/>
                </a:solidFill>
              </a:rPr>
              <a:t>VOICE PROMPT</a:t>
            </a:r>
          </a:p>
        </p:txBody>
      </p:sp>
      <p:sp>
        <p:nvSpPr>
          <p:cNvPr id="13" name="demo-step-one-body">
            <a:extLst xmlns:a="http://schemas.openxmlformats.org/drawingml/2006/main">
              <a:ext uri="{FF2B5EF4-FFF2-40B4-BE49-F238E27FC236}">
                <a16:creationId xmlns:a16="http://schemas.microsoft.com/office/drawing/2014/main" id="{80D150B2-DD99-42E1-9AB2-5A7AD1A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2E9"/>
                </a:solidFill>
              </a:defRPr>
            </a:pPr>
            <a:r>
              <a:rPr sz="1650" b="1">
                <a:solidFill>
                  <a:srgbClr val="F4F2E9"/>
                </a:solidFill>
              </a:rPr>
              <a:t>“Is 64 − 28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4F2E9"/>
                </a:solidFill>
              </a:defRPr>
            </a:pPr>
            <a:r>
              <a:rPr sz="1650" b="1">
                <a:solidFill>
                  <a:srgbClr val="F4F2E9"/>
                </a:solidFill>
              </a:rPr>
              <a:t>equal to 36?”</a:t>
            </a:r>
          </a:p>
        </p:txBody>
      </p:sp>
      <p:sp>
        <p:nvSpPr>
          <p:cNvPr id="14" name="demo-step-two">
            <a:extLst xmlns:a="http://schemas.openxmlformats.org/drawingml/2006/main">
              <a:ext uri="{FF2B5EF4-FFF2-40B4-BE49-F238E27FC236}">
                <a16:creationId xmlns:a16="http://schemas.microsoft.com/office/drawing/2014/main" id="{A04D5A4E-92B0-4BF2-8095-173CAA19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05C"/>
                </a:solidFill>
              </a:defRPr>
            </a:pPr>
            <a:r>
              <a:rPr sz="1125" b="1">
                <a:solidFill>
                  <a:srgbClr val="FF705C"/>
                </a:solidFill>
              </a:rPr>
              <a:t>YOU SAID</a:t>
            </a:r>
          </a:p>
        </p:txBody>
      </p:sp>
      <p:sp>
        <p:nvSpPr>
          <p:cNvPr id="15" name="demo-step-two-body">
            <a:extLst xmlns:a="http://schemas.openxmlformats.org/drawingml/2006/main">
              <a:ext uri="{FF2B5EF4-FFF2-40B4-BE49-F238E27FC236}">
                <a16:creationId xmlns:a16="http://schemas.microsoft.com/office/drawing/2014/main" id="{3B943865-61AA-42CD-A030-75AFD47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2E9"/>
                </a:solidFill>
              </a:defRPr>
            </a:pPr>
            <a:r>
              <a:rPr sz="2250" b="1">
                <a:solidFill>
                  <a:srgbClr val="F4F2E9"/>
                </a:solidFill>
              </a:rPr>
              <a:t>“True.”</a:t>
            </a:r>
          </a:p>
        </p:txBody>
      </p:sp>
      <p:sp>
        <p:nvSpPr>
          <p:cNvPr id="16" name="demo-step-three">
            <a:extLst xmlns:a="http://schemas.openxmlformats.org/drawingml/2006/main">
              <a:ext uri="{FF2B5EF4-FFF2-40B4-BE49-F238E27FC236}">
                <a16:creationId xmlns:a16="http://schemas.microsoft.com/office/drawing/2014/main" id="{2A24C245-0B38-445F-8D3B-FF325D53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FF63"/>
                </a:solidFill>
              </a:defRPr>
            </a:pPr>
            <a:r>
              <a:rPr sz="1125" b="1">
                <a:solidFill>
                  <a:srgbClr val="D9FF63"/>
                </a:solidFill>
              </a:rPr>
              <a:t>COGNIRUN</a:t>
            </a:r>
          </a:p>
        </p:txBody>
      </p:sp>
      <p:sp>
        <p:nvSpPr>
          <p:cNvPr id="17" name="demo-step-three-body">
            <a:extLst xmlns:a="http://schemas.openxmlformats.org/drawingml/2006/main">
              <a:ext uri="{FF2B5EF4-FFF2-40B4-BE49-F238E27FC236}">
                <a16:creationId xmlns:a16="http://schemas.microsoft.com/office/drawing/2014/main" id="{F9BA8E7D-F8C0-4DE3-ABF1-9B692737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9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4E6B0"/>
                </a:solidFill>
              </a:defRPr>
            </a:pPr>
            <a:r>
              <a:rPr sz="2100" b="1">
                <a:solidFill>
                  <a:srgbClr val="64E6B0"/>
                </a:solidFill>
              </a:rPr>
              <a:t>✓ CORRECT · 2.8 s</a:t>
            </a:r>
          </a:p>
        </p:txBody>
      </p:sp>
      <p:sp>
        <p:nvSpPr>
          <p:cNvPr id="18" name="demo-footer-rule">
            <a:extLst xmlns:a="http://schemas.openxmlformats.org/drawingml/2006/main">
              <a:ext uri="{FF2B5EF4-FFF2-40B4-BE49-F238E27FC236}">
                <a16:creationId xmlns:a16="http://schemas.microsoft.com/office/drawing/2014/main" id="{6D3A4A95-8D4C-4FAC-BDFF-084FC02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191250"/>
            <a:ext cx="501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mo-footer">
            <a:extLst xmlns:a="http://schemas.openxmlformats.org/drawingml/2006/main">
              <a:ext uri="{FF2B5EF4-FFF2-40B4-BE49-F238E27FC236}">
                <a16:creationId xmlns:a16="http://schemas.microsoft.com/office/drawing/2014/main" id="{E6D7C00E-15EE-4E65-A229-01978FC8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86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7A39D"/>
                </a:solidFill>
              </a:defRPr>
            </a:pPr>
            <a:r>
              <a:rPr sz="1050" b="1">
                <a:solidFill>
                  <a:srgbClr val="97A39D"/>
                </a:solidFill>
              </a:rPr>
              <a:t>Accuracy + response time + heart rate + pace</a:t>
            </a:r>
          </a:p>
        </p:txBody>
      </p:sp>
      <p:sp>
        <p:nvSpPr>
          <p:cNvPr id="20" name="demo-truth">
            <a:extLst xmlns:a="http://schemas.openxmlformats.org/drawingml/2006/main">
              <a:ext uri="{FF2B5EF4-FFF2-40B4-BE49-F238E27FC236}">
                <a16:creationId xmlns:a16="http://schemas.microsoft.com/office/drawing/2014/main" id="{C932F202-CE8D-4154-AADD-A024326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7A39D"/>
                </a:solidFill>
              </a:defRPr>
            </a:pPr>
            <a:r>
              <a:rPr sz="900" b="1">
                <a:solidFill>
                  <a:srgbClr val="97A39D"/>
                </a:solidFill>
              </a:rPr>
              <a:t>PROTOTYPE · DEMO DATA</a:t>
            </a:r>
          </a:p>
        </p:txBody>
      </p:sp>
    </p:spTree>
    <p:extLst>
      <p:ext uri="{BB962C8B-B14F-4D97-AF65-F5344CB8AC3E}">
        <p14:creationId xmlns:p14="http://schemas.microsoft.com/office/powerpoint/2010/main" val="2139991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avender-wash">
            <a:extLst xmlns:a="http://schemas.openxmlformats.org/drawingml/2006/main">
              <a:ext uri="{FF2B5EF4-FFF2-40B4-BE49-F238E27FC236}">
                <a16:creationId xmlns:a16="http://schemas.microsoft.com/office/drawing/2014/main" id="{2368D9A7-6F61-4D98-A51A-66D8ACF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B0D"/>
              </a:gs>
              <a:gs pos="66000">
                <a:srgbClr val="0C1115"/>
              </a:gs>
              <a:gs pos="100000">
                <a:srgbClr val="69DFF8">
                  <a:alpha val="9412"/>
                </a:srgbClr>
              </a:gs>
            </a:gsLst>
            <a:lin ang="66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6B7FA02-847F-432E-A7E5-027EDE86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195FF"/>
                </a:solidFill>
              </a:defRPr>
            </a:pPr>
            <a:r>
              <a:rPr sz="1200" b="1">
                <a:solidFill>
                  <a:srgbClr val="B195FF"/>
                </a:solidFill>
              </a:rPr>
              <a:t>PROPOSED GO-TO-MARKET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8315A-5356-4EFD-91BD-3FEE49F7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4F2E9"/>
                </a:solidFill>
              </a:defRPr>
            </a:pPr>
            <a:r>
              <a:rPr sz="3450" b="1">
                <a:solidFill>
                  <a:srgbClr val="F4F2E9"/>
                </a:solidFill>
              </a:rPr>
              <a:t>Start personal. Scale through participation.</a:t>
            </a:r>
          </a:p>
        </p:txBody>
      </p:sp>
      <p:sp>
        <p:nvSpPr>
          <p:cNvPr id="4" name="market-card-1">
            <a:extLst xmlns:a="http://schemas.openxmlformats.org/drawingml/2006/main">
              <a:ext uri="{FF2B5EF4-FFF2-40B4-BE49-F238E27FC236}">
                <a16:creationId xmlns:a16="http://schemas.microsoft.com/office/drawing/2014/main" id="{C1350546-410E-4E30-BABB-9B5D365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9050" cy="2857500"/>
          </a:xfrm>
          <a:prstGeom xmlns:a="http://schemas.openxmlformats.org/drawingml/2006/main" prst="roundRect">
            <a:avLst>
              <a:gd name="adj" fmla="val 7536"/>
            </a:avLst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5" name="market-icon-1">
            <a:extLst xmlns:a="http://schemas.openxmlformats.org/drawingml/2006/main">
              <a:ext uri="{FF2B5EF4-FFF2-40B4-BE49-F238E27FC236}">
                <a16:creationId xmlns:a16="http://schemas.microsoft.com/office/drawing/2014/main" id="{6C99E563-9EEC-4771-BE66-CC95FEC8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D9FF63"/>
                </a:solidFill>
              </a:defRPr>
            </a:pPr>
            <a:r>
              <a:rPr sz="4050" b="1">
                <a:solidFill>
                  <a:srgbClr val="D9FF63"/>
                </a:solidFill>
              </a:rPr>
              <a:t>01</a:t>
            </a:r>
          </a:p>
        </p:txBody>
      </p:sp>
      <p:sp>
        <p:nvSpPr>
          <p:cNvPr id="6" name="market-title-1">
            <a:extLst xmlns:a="http://schemas.openxmlformats.org/drawingml/2006/main">
              <a:ext uri="{FF2B5EF4-FFF2-40B4-BE49-F238E27FC236}">
                <a16:creationId xmlns:a16="http://schemas.microsoft.com/office/drawing/2014/main" id="{35E2E31B-CBF5-4A46-8D71-D24A22C7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2E9"/>
                </a:solidFill>
              </a:defRPr>
            </a:pPr>
            <a:r>
              <a:rPr sz="1950" b="1">
                <a:solidFill>
                  <a:srgbClr val="F4F2E9"/>
                </a:solidFill>
              </a:rPr>
              <a:t>YOU</a:t>
            </a:r>
          </a:p>
        </p:txBody>
      </p:sp>
      <p:sp>
        <p:nvSpPr>
          <p:cNvPr id="7" name="market-body-1">
            <a:extLst xmlns:a="http://schemas.openxmlformats.org/drawingml/2006/main">
              <a:ext uri="{FF2B5EF4-FFF2-40B4-BE49-F238E27FC236}">
                <a16:creationId xmlns:a16="http://schemas.microsoft.com/office/drawing/2014/main" id="{3033E229-9CE0-45EC-8298-19CEDB9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7A39D"/>
                </a:solidFill>
              </a:defRPr>
            </a:pPr>
            <a:r>
              <a:rPr sz="1575" b="1">
                <a:solidFill>
                  <a:srgbClr val="97A39D"/>
                </a:solidFill>
              </a:rPr>
              <a:t>Train for interviews, theory tests and memory — under real physical load.</a:t>
            </a:r>
          </a:p>
        </p:txBody>
      </p:sp>
      <p:sp>
        <p:nvSpPr>
          <p:cNvPr id="8" name="market-rule-1">
            <a:extLst xmlns:a="http://schemas.openxmlformats.org/drawingml/2006/main">
              <a:ext uri="{FF2B5EF4-FFF2-40B4-BE49-F238E27FC236}">
                <a16:creationId xmlns:a16="http://schemas.microsoft.com/office/drawing/2014/main" id="{360A0C9B-851A-4988-B55C-691AE7E5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rket-close-1">
            <a:extLst xmlns:a="http://schemas.openxmlformats.org/drawingml/2006/main">
              <a:ext uri="{FF2B5EF4-FFF2-40B4-BE49-F238E27FC236}">
                <a16:creationId xmlns:a16="http://schemas.microsoft.com/office/drawing/2014/main" id="{A3F58A34-5B98-47C8-A92A-DE0D41B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F63"/>
                </a:solidFill>
              </a:defRPr>
            </a:pPr>
            <a:r>
              <a:rPr sz="1200" b="1">
                <a:solidFill>
                  <a:srgbClr val="D9FF63"/>
                </a:solidFill>
              </a:rPr>
              <a:t>Free scan → premium repeat packs</a:t>
            </a:r>
          </a:p>
        </p:txBody>
      </p:sp>
      <p:sp>
        <p:nvSpPr>
          <p:cNvPr id="10" name="market-card-2">
            <a:extLst xmlns:a="http://schemas.openxmlformats.org/drawingml/2006/main">
              <a:ext uri="{FF2B5EF4-FFF2-40B4-BE49-F238E27FC236}">
                <a16:creationId xmlns:a16="http://schemas.microsoft.com/office/drawing/2014/main" id="{2A08E3DC-CC8B-4E7C-84A9-098E8577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9050" cy="2857500"/>
          </a:xfrm>
          <a:prstGeom xmlns:a="http://schemas.openxmlformats.org/drawingml/2006/main" prst="roundRect">
            <a:avLst>
              <a:gd name="adj" fmla="val 7536"/>
            </a:avLst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11" name="market-icon-2">
            <a:extLst xmlns:a="http://schemas.openxmlformats.org/drawingml/2006/main">
              <a:ext uri="{FF2B5EF4-FFF2-40B4-BE49-F238E27FC236}">
                <a16:creationId xmlns:a16="http://schemas.microsoft.com/office/drawing/2014/main" id="{9EE0678B-3971-4833-81EB-A1EA2FB2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288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69DFF8"/>
                </a:solidFill>
              </a:defRPr>
            </a:pPr>
            <a:r>
              <a:rPr sz="4050" b="1">
                <a:solidFill>
                  <a:srgbClr val="69DFF8"/>
                </a:solidFill>
              </a:rPr>
              <a:t>02</a:t>
            </a:r>
          </a:p>
        </p:txBody>
      </p:sp>
      <p:sp>
        <p:nvSpPr>
          <p:cNvPr id="12" name="market-title-2">
            <a:extLst xmlns:a="http://schemas.openxmlformats.org/drawingml/2006/main">
              <a:ext uri="{FF2B5EF4-FFF2-40B4-BE49-F238E27FC236}">
                <a16:creationId xmlns:a16="http://schemas.microsoft.com/office/drawing/2014/main" id="{E0392D45-010B-45D6-A114-AA5F7E3F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33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2E9"/>
                </a:solidFill>
              </a:defRPr>
            </a:pPr>
            <a:r>
              <a:rPr sz="1950" b="1">
                <a:solidFill>
                  <a:srgbClr val="F4F2E9"/>
                </a:solidFill>
              </a:rPr>
              <a:t>SCIENTISTS</a:t>
            </a:r>
          </a:p>
        </p:txBody>
      </p:sp>
      <p:sp>
        <p:nvSpPr>
          <p:cNvPr id="13" name="market-body-2">
            <a:extLst xmlns:a="http://schemas.openxmlformats.org/drawingml/2006/main">
              <a:ext uri="{FF2B5EF4-FFF2-40B4-BE49-F238E27FC236}">
                <a16:creationId xmlns:a16="http://schemas.microsoft.com/office/drawing/2014/main" id="{6DE005E6-C9E0-42AB-9E09-AEAF756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7A39D"/>
                </a:solidFill>
              </a:defRPr>
            </a:pPr>
            <a:r>
              <a:rPr sz="1575" b="1">
                <a:solidFill>
                  <a:srgbClr val="97A39D"/>
                </a:solidFill>
              </a:rPr>
              <a:t>Turn an opt-in cognition-under-exertion protocol into a challenge people can join quickly.</a:t>
            </a:r>
          </a:p>
        </p:txBody>
      </p:sp>
      <p:sp>
        <p:nvSpPr>
          <p:cNvPr id="14" name="market-rule-2">
            <a:extLst xmlns:a="http://schemas.openxmlformats.org/drawingml/2006/main">
              <a:ext uri="{FF2B5EF4-FFF2-40B4-BE49-F238E27FC236}">
                <a16:creationId xmlns:a16="http://schemas.microsoft.com/office/drawing/2014/main" id="{A23EBDAC-C323-4639-ACED-681EC5A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624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rket-close-2">
            <a:extLst xmlns:a="http://schemas.openxmlformats.org/drawingml/2006/main">
              <a:ext uri="{FF2B5EF4-FFF2-40B4-BE49-F238E27FC236}">
                <a16:creationId xmlns:a16="http://schemas.microsoft.com/office/drawing/2014/main" id="{864000FF-4C5B-4852-B1A4-7849D49A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9DFF8"/>
                </a:solidFill>
              </a:defRPr>
            </a:pPr>
            <a:r>
              <a:rPr sz="1200" b="1">
                <a:solidFill>
                  <a:srgbClr val="69DFF8"/>
                </a:solidFill>
              </a:rPr>
              <a:t>Study tooling → cohort fees</a:t>
            </a:r>
          </a:p>
        </p:txBody>
      </p:sp>
      <p:sp>
        <p:nvSpPr>
          <p:cNvPr id="16" name="market-card-3">
            <a:extLst xmlns:a="http://schemas.openxmlformats.org/drawingml/2006/main">
              <a:ext uri="{FF2B5EF4-FFF2-40B4-BE49-F238E27FC236}">
                <a16:creationId xmlns:a16="http://schemas.microsoft.com/office/drawing/2014/main" id="{8E39203F-4BA2-44C3-AEBB-B16457C6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oundRect">
            <a:avLst>
              <a:gd name="adj" fmla="val 7536"/>
            </a:avLst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17" name="market-icon-3">
            <a:extLst xmlns:a="http://schemas.openxmlformats.org/drawingml/2006/main">
              <a:ext uri="{FF2B5EF4-FFF2-40B4-BE49-F238E27FC236}">
                <a16:creationId xmlns:a16="http://schemas.microsoft.com/office/drawing/2014/main" id="{2C5FA3C9-8044-42C0-BF39-6937AAD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195FF"/>
                </a:solidFill>
              </a:defRPr>
            </a:pPr>
            <a:r>
              <a:rPr sz="4050" b="1">
                <a:solidFill>
                  <a:srgbClr val="B195FF"/>
                </a:solidFill>
              </a:rPr>
              <a:t>03</a:t>
            </a:r>
          </a:p>
        </p:txBody>
      </p:sp>
      <p:sp>
        <p:nvSpPr>
          <p:cNvPr id="18" name="market-title-3">
            <a:extLst xmlns:a="http://schemas.openxmlformats.org/drawingml/2006/main">
              <a:ext uri="{FF2B5EF4-FFF2-40B4-BE49-F238E27FC236}">
                <a16:creationId xmlns:a16="http://schemas.microsoft.com/office/drawing/2014/main" id="{ECA9F99A-0503-4EB0-9B91-3387F8F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33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2E9"/>
                </a:solidFill>
              </a:defRPr>
            </a:pPr>
            <a:r>
              <a:rPr sz="1950" b="1">
                <a:solidFill>
                  <a:srgbClr val="F4F2E9"/>
                </a:solidFill>
              </a:rPr>
              <a:t>SPONSORS</a:t>
            </a:r>
          </a:p>
        </p:txBody>
      </p:sp>
      <p:sp>
        <p:nvSpPr>
          <p:cNvPr id="19" name="market-body-3">
            <a:extLst xmlns:a="http://schemas.openxmlformats.org/drawingml/2006/main">
              <a:ext uri="{FF2B5EF4-FFF2-40B4-BE49-F238E27FC236}">
                <a16:creationId xmlns:a16="http://schemas.microsoft.com/office/drawing/2014/main" id="{88FD86A6-F240-4594-BF2A-C25B79C4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7A39D"/>
                </a:solidFill>
              </a:defRPr>
            </a:pPr>
            <a:r>
              <a:rPr sz="1575" b="1">
                <a:solidFill>
                  <a:srgbClr val="97A39D"/>
                </a:solidFill>
              </a:rPr>
              <a:t>Fund clearly labelled question packs, prizes and themed challenges.</a:t>
            </a:r>
          </a:p>
        </p:txBody>
      </p:sp>
      <p:sp>
        <p:nvSpPr>
          <p:cNvPr id="20" name="market-rule-3">
            <a:extLst xmlns:a="http://schemas.openxmlformats.org/drawingml/2006/main">
              <a:ext uri="{FF2B5EF4-FFF2-40B4-BE49-F238E27FC236}">
                <a16:creationId xmlns:a16="http://schemas.microsoft.com/office/drawing/2014/main" id="{B4D1B4B8-4E42-40DC-B412-417D6EE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rket-close-3">
            <a:extLst xmlns:a="http://schemas.openxmlformats.org/drawingml/2006/main">
              <a:ext uri="{FF2B5EF4-FFF2-40B4-BE49-F238E27FC236}">
                <a16:creationId xmlns:a16="http://schemas.microsoft.com/office/drawing/2014/main" id="{4C233AD9-229E-4AD2-B5CC-90B6FA9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195FF"/>
                </a:solidFill>
              </a:defRPr>
            </a:pPr>
            <a:r>
              <a:rPr sz="1200" b="1">
                <a:solidFill>
                  <a:srgbClr val="B195FF"/>
                </a:solidFill>
              </a:rPr>
              <a:t>Sponsored challenges</a:t>
            </a:r>
          </a:p>
        </p:txBody>
      </p:sp>
      <p:sp>
        <p:nvSpPr>
          <p:cNvPr id="22" name="market-footer">
            <a:extLst xmlns:a="http://schemas.openxmlformats.org/drawingml/2006/main">
              <a:ext uri="{FF2B5EF4-FFF2-40B4-BE49-F238E27FC236}">
                <a16:creationId xmlns:a16="http://schemas.microsoft.com/office/drawing/2014/main" id="{A429A6D1-5B4B-41C6-80F2-E4A8C02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4F2E9"/>
                </a:solidFill>
              </a:defRPr>
            </a:pPr>
            <a:r>
              <a:rPr sz="1725" b="1">
                <a:solidFill>
                  <a:srgbClr val="F4F2E9"/>
                </a:solidFill>
              </a:rPr>
              <a:t>Runner utility → opt-in challenges → sponsor-funded participation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4F2E9"/>
                </a:solidFill>
              </a:defRPr>
            </a:pPr>
            <a:r>
              <a:rPr sz="1725" b="1">
                <a:solidFill>
                  <a:srgbClr val="F4F2E9"/>
                </a:solidFill>
              </a:rPr>
              <a:t>ROADMAP · NOT CURRENT TRACTION</a:t>
            </a:r>
          </a:p>
        </p:txBody>
      </p:sp>
    </p:spTree>
    <p:extLst>
      <p:ext uri="{BB962C8B-B14F-4D97-AF65-F5344CB8AC3E}">
        <p14:creationId xmlns:p14="http://schemas.microsoft.com/office/powerpoint/2010/main" val="1835688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vender-wash">
            <a:extLst xmlns:a="http://schemas.openxmlformats.org/drawingml/2006/main">
              <a:ext uri="{FF2B5EF4-FFF2-40B4-BE49-F238E27FC236}">
                <a16:creationId xmlns:a16="http://schemas.microsoft.com/office/drawing/2014/main" id="{E7377D45-2499-4802-AED0-4863CF2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B0D"/>
              </a:gs>
              <a:gs pos="66000">
                <a:srgbClr val="0C1115"/>
              </a:gs>
              <a:gs pos="100000">
                <a:srgbClr val="B195FF">
                  <a:alpha val="9412"/>
                </a:srgbClr>
              </a:gs>
            </a:gsLst>
            <a:lin ang="66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result-truth-label">
            <a:extLst xmlns:a="http://schemas.openxmlformats.org/drawingml/2006/main">
              <a:ext uri="{FF2B5EF4-FFF2-40B4-BE49-F238E27FC236}">
                <a16:creationId xmlns:a16="http://schemas.microsoft.com/office/drawing/2014/main" id="{E963A96D-44E2-4814-8983-C8D0D739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195FF"/>
                </a:solidFill>
              </a:defRPr>
            </a:pPr>
            <a:r>
              <a:rPr sz="1200" b="1">
                <a:solidFill>
                  <a:srgbClr val="B195FF"/>
                </a:solidFill>
              </a:rPr>
              <a:t>YOUR BRAIN × BODY MAP · ILLUSTRATIVE</a:t>
            </a:r>
          </a:p>
        </p:txBody>
      </p:sp>
      <p:sp>
        <p:nvSpPr>
          <p:cNvPr id="3" name="result-frame">
            <a:extLst xmlns:a="http://schemas.openxmlformats.org/drawingml/2006/main">
              <a:ext uri="{FF2B5EF4-FFF2-40B4-BE49-F238E27FC236}">
                <a16:creationId xmlns:a16="http://schemas.microsoft.com/office/drawing/2014/main" id="{812F2B2B-3ABA-4529-96AD-A9AC604C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DF23FD5-A847-4186-B11D-2712CAC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195FF"/>
                </a:solidFill>
              </a:defRPr>
            </a:pPr>
            <a:r>
              <a:rPr sz="1200" b="1">
                <a:solidFill>
                  <a:srgbClr val="B195FF"/>
                </a:solidFill>
              </a:rPr>
              <a:t>MATCHED LOGIC · SEATED REFERENCE = 100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6B8C4B0-78C3-4F91-B740-7A1800B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2E9"/>
                </a:solidFill>
              </a:defRPr>
            </a:pPr>
            <a:r>
              <a:rPr sz="3600" b="1">
                <a:solidFill>
                  <a:srgbClr val="F4F2E9"/>
                </a:solidFill>
              </a:rPr>
              <a:t>Walking was strongest today.</a:t>
            </a:r>
          </a:p>
        </p:txBody>
      </p:sp>
      <p:sp>
        <p:nvSpPr>
          <p:cNvPr id="7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03C65A62-A4A4-497A-A6BB-60C71708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2E9"/>
                </a:solidFill>
              </a:defRPr>
            </a:pPr>
            <a:r>
              <a:rPr sz="1500" b="1">
                <a:solidFill>
                  <a:srgbClr val="F4F2E9"/>
                </a:solidFill>
              </a:rPr>
              <a:t>ZONE 3 · 91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4F2E9"/>
                </a:solidFill>
              </a:defRPr>
            </a:pPr>
            <a:r>
              <a:rPr sz="1500" b="1">
                <a:solidFill>
                  <a:srgbClr val="F4F2E9"/>
                </a:solidFill>
              </a:rPr>
              <a:t>+5 MIN · 105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D0A17"/>
                </a:solidFill>
              </a:defRPr>
            </a:pPr>
            <a:r>
              <a:rPr sz="2850" b="1">
                <a:solidFill>
                  <a:srgbClr val="0D0A1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F4F2E9"/>
                </a:solidFill>
              </a:defRPr>
            </a:pPr>
            <a:r>
              <a:rPr sz="1500" b="1">
                <a:solidFill>
                  <a:srgbClr val="F4F2E9"/>
                </a:solidFill>
              </a:rPr>
              <a:t>One scan = an early signal.</a:t>
            </a:r>
          </a:p>
        </p:txBody>
      </p:sp>
      <p:sp>
        <p:nvSpPr>
          <p:cNvPr id="8" name="cta">
            <a:extLst xmlns:a="http://schemas.openxmlformats.org/drawingml/2006/main">
              <a:ext uri="{FF2B5EF4-FFF2-40B4-BE49-F238E27FC236}">
                <a16:creationId xmlns:a16="http://schemas.microsoft.com/office/drawing/2014/main" id="{2AE39916-70EB-4CC6-97D9-7643D490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19050" cy="3371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ta-text">
            <a:extLst xmlns:a="http://schemas.openxmlformats.org/drawingml/2006/main">
              <a:ext uri="{FF2B5EF4-FFF2-40B4-BE49-F238E27FC236}">
                <a16:creationId xmlns:a16="http://schemas.microsoft.com/office/drawing/2014/main" id="{03F68E8B-7773-4BEB-97B8-EEC5784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195FF"/>
                </a:solidFill>
              </a:defRPr>
            </a:pPr>
            <a:r>
              <a:rPr sz="1200" b="1">
                <a:solidFill>
                  <a:srgbClr val="B195FF"/>
                </a:solidFill>
              </a:rPr>
              <a:t>BEST TODAY</a:t>
            </a:r>
          </a:p>
        </p:txBody>
      </p:sp>
      <p:sp>
        <p:nvSpPr>
          <p:cNvPr id="10" name="platforms">
            <a:extLst xmlns:a="http://schemas.openxmlformats.org/drawingml/2006/main">
              <a:ext uri="{FF2B5EF4-FFF2-40B4-BE49-F238E27FC236}">
                <a16:creationId xmlns:a16="http://schemas.microsoft.com/office/drawing/2014/main" id="{3C6A900C-54C4-4FFC-8779-050BB2FA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WALKING · 108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+8 vs seated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d23fcf35a4875"/>
          <a:stretch xmlns:a="http://schemas.openxmlformats.org/drawingml/2006/main"/>
        </p:blipFill>
        <p:spPr>
          <a:xfrm xmlns:a="http://schemas.openxmlformats.org/drawingml/2006/main">
            <a:off x="9715500" y="481965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12" name="qr-caption">
            <a:extLst xmlns:a="http://schemas.openxmlformats.org/drawingml/2006/main">
              <a:ext uri="{FF2B5EF4-FFF2-40B4-BE49-F238E27FC236}">
                <a16:creationId xmlns:a16="http://schemas.microsoft.com/office/drawing/2014/main" id="{0FE53E35-5383-4589-8482-096D2C83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52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195FF"/>
                </a:solidFill>
              </a:defRPr>
            </a:pPr>
            <a:r>
              <a:rPr sz="1200" b="1">
                <a:solidFill>
                  <a:srgbClr val="B195FF"/>
                </a:solidFill>
              </a:rPr>
              <a:t>SCAN TO TRY</a:t>
            </a:r>
          </a:p>
        </p:txBody>
      </p:sp>
      <p:sp>
        <p:nvSpPr>
          <p:cNvPr id="13" name="analogy-note">
            <a:extLst xmlns:a="http://schemas.openxmlformats.org/drawingml/2006/main">
              <a:ext uri="{FF2B5EF4-FFF2-40B4-BE49-F238E27FC236}">
                <a16:creationId xmlns:a16="http://schemas.microsoft.com/office/drawing/2014/main" id="{A52B2512-0486-410C-A135-C17606FC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7A39D"/>
                </a:solidFill>
              </a:defRPr>
            </a:pPr>
            <a:r>
              <a:rPr sz="1200" b="1">
                <a:solidFill>
                  <a:srgbClr val="97A39D"/>
                </a:solidFill>
              </a:rPr>
              <a:t>BASELINE-RELATIVE · TASK-SPECIFIC · NOT IQ · ILLUSTRATIVE DATA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81050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95961466c64c02"/>
          </a:graphicData>
        </a:graphic>
      </p:graphicFrame>
    </p:spTree>
    <p:extLst>
      <p:ext uri="{BB962C8B-B14F-4D97-AF65-F5344CB8AC3E}">
        <p14:creationId xmlns:p14="http://schemas.microsoft.com/office/powerpoint/2010/main" val="65799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2026-08-29T18:38:50.3310000Z</dcterms:created>
  <dcterms:modified xsi:type="dcterms:W3CDTF">2026-08-29T18:38:50.3310000Z</dcterms:modified>
</coreProperties>
</file>