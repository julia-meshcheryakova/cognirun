
<file path=[Content_Types].xml><?xml version="1.0" encoding="utf-8"?>
<Types xmlns="http://schemas.openxmlformats.org/package/2006/content-types">
  <Default Extension="xml" ContentType="application/vnd.openxmlformats-package.core-properties+xml"/>
  <Default Extension="gif" ContentType="image/gif"/>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81610c3798f440d" /><Relationship Type="http://schemas.openxmlformats.org/officeDocument/2006/relationships/extended-properties" Target="/docProps/app.xml" Id="Rc19de8af0e704157" /><Relationship Type="http://schemas.openxmlformats.org/officeDocument/2006/relationships/officeDocument" Target="/ppt/presentation.xml" Id="R3b6d1794e3f34d40" /></Relationships>
</file>

<file path=ppt/presentation.xml><?xml version="1.0" encoding="utf-8"?>
<p:presentation xmlns:p="http://schemas.openxmlformats.org/presentationml/2006/main">
  <p:sldMasterIdLst>
    <p:sldMasterId xmlns:r="http://schemas.openxmlformats.org/officeDocument/2006/relationships" id="2147483648" r:id="R665f6f1fe66941bc"/>
  </p:sldMasterIdLst>
  <p:notesMasterIdLst>
    <p:notesMasterId xmlns:r="http://schemas.openxmlformats.org/officeDocument/2006/relationships" r:id="Rc2563f7a65614b7f"/>
  </p:notesMasterIdLst>
  <p:sldIdLst>
    <p:sldId xmlns:r="http://schemas.openxmlformats.org/officeDocument/2006/relationships" id="256" r:id="Ra3bf0c50c2fe4240"/>
    <p:sldId xmlns:r="http://schemas.openxmlformats.org/officeDocument/2006/relationships" id="257" r:id="R28949e7e86d54321"/>
    <p:sldId xmlns:r="http://schemas.openxmlformats.org/officeDocument/2006/relationships" id="258" r:id="R4a4d664188294a8b"/>
    <p:sldId xmlns:r="http://schemas.openxmlformats.org/officeDocument/2006/relationships" id="259" r:id="Ra1594af2dcf3478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7eb8821cf14cc9" /><Relationship Type="http://schemas.openxmlformats.org/officeDocument/2006/relationships/slideMaster" Target="/ppt/slideMasters/slideMaster1.xml" Id="R665f6f1fe66941bc" /><Relationship Type="http://schemas.openxmlformats.org/officeDocument/2006/relationships/notesMaster" Target="/ppt/notesMasters/notesMaster1.xml" Id="Rc2563f7a65614b7f" /><Relationship Type="http://schemas.openxmlformats.org/officeDocument/2006/relationships/presProps" Target="/ppt/presProps.xml" Id="R9b28658901064cb2" /><Relationship Type="http://schemas.openxmlformats.org/officeDocument/2006/relationships/tableStyles" Target="/ppt/tableStyles.xml" Id="Rdf8f5f3955f844aa" /><Relationship Type="http://schemas.openxmlformats.org/officeDocument/2006/relationships/slide" Target="/ppt/slides/slide1.xml" Id="Ra3bf0c50c2fe4240" /><Relationship Type="http://schemas.openxmlformats.org/officeDocument/2006/relationships/slide" Target="/ppt/slides/slide2.xml" Id="R28949e7e86d54321" /><Relationship Type="http://schemas.openxmlformats.org/officeDocument/2006/relationships/slide" Target="/ppt/slides/slide3.xml" Id="R4a4d664188294a8b" /><Relationship Type="http://schemas.openxmlformats.org/officeDocument/2006/relationships/slide" Target="/ppt/slides/slide4.xml" Id="Ra1594af2dcf347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68c72bb14040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f62f433c0b40cf" /><Relationship Type="http://schemas.openxmlformats.org/officeDocument/2006/relationships/notesMaster" Target="/ppt/notesMasters/notesMaster1.xml" Id="Ra2c2c479b45b48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4587b2e2b34249" /><Relationship Type="http://schemas.openxmlformats.org/officeDocument/2006/relationships/notesMaster" Target="/ppt/notesMasters/notesMaster1.xml" Id="R55b73879c0e546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3f83a9d44f4f25" /><Relationship Type="http://schemas.openxmlformats.org/officeDocument/2006/relationships/notesMaster" Target="/ppt/notesMasters/notesMaster1.xml" Id="Rf1773aed0fea4e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d9bc9c9b274a0c" /><Relationship Type="http://schemas.openxmlformats.org/officeDocument/2006/relationships/notesMaster" Target="/ppt/notesMasters/notesMaster1.xml" Id="R237a5fc48dcd45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CogniRun measures a provisional cognitive heart-rate threshold — not a medical threshold, but the point where, on this task today, performance changes as body load changes. Users run with GPS and heart rate, hear questions hands-free, and discover how sharp they stay under pressure.</a:t>
            </a:r>
          </a:p>
          <a:p xmlns:a="http://schemas.openxmlformats.org/drawingml/2006/main">
            <a:r>
              <a:t/>
            </a:r>
          </a:p>
          <a:p xmlns:a="http://schemas.openxmlformats.org/drawingml/2006/main">
            <a:r>
              <a:t>[Sources]</a:t>
            </a:r>
          </a:p>
          <a:p xmlns:a="http://schemas.openxmlformats.org/drawingml/2006/main">
            <a:r>
              <a:t>- Positioning adapted from the user-supplied reference slide 4-Photo-4.jpg.</a:t>
            </a:r>
          </a:p>
          <a:p xmlns:a="http://schemas.openxmlformats.org/drawingml/2006/main">
            <a:r>
              <a:t>- Product capability summary is based on the current CogniRun prototype and user-supplied Android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product. On the left, a runner using the watch. On the right, the real live app: distance, pace, GPS, the question, the answer and the local judgement. The prompt comes through voice, the response is captured, and the result is tied back to the runner’s body state. One run becomes a measurable brain-and-body experiment.</a:t>
            </a:r>
          </a:p>
          <a:p xmlns:a="http://schemas.openxmlformats.org/drawingml/2006/main">
            <a:r>
              <a:t/>
            </a:r>
          </a:p>
          <a:p xmlns:a="http://schemas.openxmlformats.org/drawingml/2006/main">
            <a:r>
              <a:t>[Sources]</a:t>
            </a:r>
          </a:p>
          <a:p xmlns:a="http://schemas.openxmlformats.org/drawingml/2006/main">
            <a:r>
              <a:t>- Runner video: user-supplied marketing/cognirun-ad/public/video/runner-garmin.mov.</a:t>
            </a:r>
          </a:p>
          <a:p xmlns:a="http://schemas.openxmlformats.org/drawingml/2006/main">
            <a:r>
              <a:t>- Real app screen: user-supplied reference 2-Photo-2.jpg, cropped without altering the interface.</a:t>
            </a:r>
          </a:p>
          <a:p xmlns:a="http://schemas.openxmlformats.org/drawingml/2006/main">
            <a:r>
              <a:t>- Demo values are prototype/demo data, not validated participant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the demo, here is how it scales. Individuals train for interviews, driving theory and memory tasks. Scientists convert cognition-under-exertion protocols into joinable challenges; enrollment feels like joining a run. Businesses sponsor question packs, challenge themes and prizes. One platform serves a consumer product, research infrastructure and sponsor revenue.</a:t>
            </a:r>
          </a:p>
          <a:p xmlns:a="http://schemas.openxmlformats.org/drawingml/2006/main">
            <a:r>
              <a:t/>
            </a:r>
          </a:p>
          <a:p xmlns:a="http://schemas.openxmlformats.org/drawingml/2006/main">
            <a:r>
              <a:t>[Sources]</a:t>
            </a:r>
          </a:p>
          <a:p xmlns:a="http://schemas.openxmlformats.org/drawingml/2006/main">
            <a:r>
              <a:t>- Content and visual hierarchy adapted from the user-supplied reference slide 3-Photo-3.jpg.</a:t>
            </a:r>
          </a:p>
          <a:p xmlns:a="http://schemas.openxmlformats.org/drawingml/2006/main">
            <a:r>
              <a:t>- These are proposed go-to-market routes, not current customers, revenue or enrollment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category shorthand is Strava for your mind. Not a promise that running makes you smarter: a platform that measures thinking under load. The loop is simple: runners discover and repeat, researchers publish challenges, and sponsors fund participation. A run that measures; a challenge that recruits; a platform that pays for itself.</a:t>
            </a:r>
          </a:p>
          <a:p xmlns:a="http://schemas.openxmlformats.org/drawingml/2006/main">
            <a:r>
              <a:t/>
            </a:r>
          </a:p>
          <a:p xmlns:a="http://schemas.openxmlformats.org/drawingml/2006/main">
            <a:r>
              <a:t>[Sources]</a:t>
            </a:r>
          </a:p>
          <a:p xmlns:a="http://schemas.openxmlformats.org/drawingml/2006/main">
            <a:r>
              <a:t>- Real result screen: user-supplied reference 1-Photo-1.jpg, cropped without altering the interface.</a:t>
            </a:r>
          </a:p>
          <a:p xmlns:a="http://schemas.openxmlformats.org/drawingml/2006/main">
            <a:r>
              <a:t>- Public prototype QR target: https://dreamy-meringue-246d16.netlify.app/</a:t>
            </a:r>
          </a:p>
          <a:p xmlns:a="http://schemas.openxmlformats.org/drawingml/2006/main">
            <a:r>
              <a:t>- Commercial analogue: Strava Business Sponsored Challenges, https://business.strava.com/challenges</a:t>
            </a:r>
          </a:p>
          <a:p xmlns:a="http://schemas.openxmlformats.org/drawingml/2006/main">
            <a:r>
              <a:t>- No affiliation with or endorsement by Strava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db7f9d81b734bb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8a71768821409e" /><Relationship Type="http://schemas.openxmlformats.org/officeDocument/2006/relationships/slideLayout" Target="/ppt/slideLayouts/slideLayout1.xml" Id="Rbea7946a54dc4b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ea7946a54dc4b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d3c926238204ced" /><Relationship Type="http://schemas.openxmlformats.org/officeDocument/2006/relationships/notesSlide" Target="/ppt/notesSlides/notesSlide1.xml" Id="R16c1f8cf18d645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d126a2c22f1432b" /><Relationship Type="http://schemas.openxmlformats.org/officeDocument/2006/relationships/image" Target="/ppt/media/image.gif" Id="R13a5c4577fe74b69" /><Relationship Type="http://schemas.openxmlformats.org/officeDocument/2006/relationships/image" Target="/ppt/media/image.png" Id="Rc4bba2696bf84334" /><Relationship Type="http://schemas.openxmlformats.org/officeDocument/2006/relationships/notesSlide" Target="/ppt/notesSlides/notesSlide2.xml" Id="R65760e4386054a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b8d2f794baf42f7" /><Relationship Type="http://schemas.openxmlformats.org/officeDocument/2006/relationships/notesSlide" Target="/ppt/notesSlides/notesSlide3.xml" Id="R52baa762631449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e3da87dbbda4b69" /><Relationship Type="http://schemas.openxmlformats.org/officeDocument/2006/relationships/image" Target="/ppt/media/image2.png" Id="R32d74c995ad444c8" /><Relationship Type="http://schemas.openxmlformats.org/officeDocument/2006/relationships/image" Target="/ppt/media/image3.png" Id="R0408c4bddab94aa9" /><Relationship Type="http://schemas.openxmlformats.org/officeDocument/2006/relationships/notesSlide" Target="/ppt/notesSlides/notesSlide4.xml" Id="Rc618e5ca839a4748" /></Relationships>
</file>

<file path=ppt/slides/slide1.xml><?xml version="1.0" encoding="utf-8"?>
<p:sld xmlns:p="http://schemas.openxmlformats.org/presentationml/2006/main">
  <p:cSld>
    <p:bg>
      <p:bgPr>
        <a:solidFill xmlns:a="http://schemas.openxmlformats.org/drawingml/2006/main">
          <a:srgbClr val="F8F7FD"/>
        </a:solidFill>
      </p:bgPr>
    </p:bg>
    <p:spTree>
      <p:nvGrpSpPr>
        <p:cNvPr id="1" name=""/>
        <p:cNvGrpSpPr/>
        <p:nvPr/>
      </p:nvGrpSpPr>
      <p:grpSpPr>
        <a:xfrm xmlns:a="http://schemas.openxmlformats.org/drawingml/2006/main"/>
      </p:grpSpPr>
      <p:sp>
        <p:nvSpPr>
          <p:cNvPr id="12" name="lavender-wash">
            <a:extLst xmlns:a="http://schemas.openxmlformats.org/drawingml/2006/main">
              <a:ext uri="{FF2B5EF4-FFF2-40B4-BE49-F238E27FC236}">
                <a16:creationId xmlns:a16="http://schemas.microsoft.com/office/drawing/2014/main" id="{8AD0FC17-B036-4C5F-B725-CA5D73350FF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F8F7FD"/>
              </a:gs>
              <a:gs pos="67000">
                <a:srgbClr val="F8F7FD"/>
              </a:gs>
              <a:gs pos="100000">
                <a:srgbClr val="ECE8FF"/>
              </a:gs>
            </a:gsLst>
            <a:lin ang="5400000"/>
          </a:gra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F549E0C5-15E3-42D0-94E6-78AFB16BAE6B}"/>
              </a:ext>
            </a:extLst>
          </p:cNvPr>
          <p:cNvSpPr>
            <a:spLocks xmlns:a="http://schemas.openxmlformats.org/drawingml/2006/main" noGrp="1"/>
          </p:cNvSpPr>
          <p:nvPr/>
        </p:nvSpPr>
        <p:spPr>
          <a:xfrm xmlns:a="http://schemas.openxmlformats.org/drawingml/2006/main">
            <a:off x="685800" y="47625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6C55E8"/>
                </a:solidFill>
              </a:defRPr>
            </a:pPr>
            <a:r>
              <a:rPr sz="1275" b="1">
                <a:solidFill>
                  <a:srgbClr val="6C55E8"/>
                </a:solidFill>
              </a:rPr>
              <a:t>THINK WHILE YOU RUN</a:t>
            </a:r>
          </a:p>
        </p:txBody>
      </p:sp>
      <p:sp>
        <p:nvSpPr>
          <p:cNvPr id="3" name="brand">
            <a:extLst xmlns:a="http://schemas.openxmlformats.org/drawingml/2006/main">
              <a:ext uri="{FF2B5EF4-FFF2-40B4-BE49-F238E27FC236}">
                <a16:creationId xmlns:a16="http://schemas.microsoft.com/office/drawing/2014/main" id="{6E6F4095-B71E-4F04-BE8B-E5A6EA0A3793}"/>
              </a:ext>
            </a:extLst>
          </p:cNvPr>
          <p:cNvSpPr>
            <a:spLocks xmlns:a="http://schemas.openxmlformats.org/drawingml/2006/main" noGrp="1"/>
          </p:cNvSpPr>
          <p:nvPr/>
        </p:nvSpPr>
        <p:spPr>
          <a:xfrm xmlns:a="http://schemas.openxmlformats.org/drawingml/2006/main">
            <a:off x="685800" y="876300"/>
            <a:ext cx="5905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0" b="1">
                <a:solidFill>
                  <a:srgbClr val="0D0A17"/>
                </a:solidFill>
              </a:defRPr>
            </a:pPr>
            <a:r>
              <a:rPr sz="6000" b="1">
                <a:solidFill>
                  <a:srgbClr val="0D0A17"/>
                </a:solidFill>
              </a:rPr>
              <a:t>CogniRun</a:t>
            </a:r>
          </a:p>
        </p:txBody>
      </p:sp>
      <p:sp>
        <p:nvSpPr>
          <p:cNvPr id="4" name="lead-one">
            <a:extLst xmlns:a="http://schemas.openxmlformats.org/drawingml/2006/main">
              <a:ext uri="{FF2B5EF4-FFF2-40B4-BE49-F238E27FC236}">
                <a16:creationId xmlns:a16="http://schemas.microsoft.com/office/drawing/2014/main" id="{C1465C91-9F0E-4A74-ADBA-0355AF44961A}"/>
              </a:ext>
            </a:extLst>
          </p:cNvPr>
          <p:cNvSpPr>
            <a:spLocks xmlns:a="http://schemas.openxmlformats.org/drawingml/2006/main" noGrp="1"/>
          </p:cNvSpPr>
          <p:nvPr/>
        </p:nvSpPr>
        <p:spPr>
          <a:xfrm xmlns:a="http://schemas.openxmlformats.org/drawingml/2006/main">
            <a:off x="685800" y="2333625"/>
            <a:ext cx="5810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D0A17"/>
                </a:solidFill>
              </a:defRPr>
            </a:pPr>
            <a:r>
              <a:rPr sz="2700" b="1">
                <a:solidFill>
                  <a:srgbClr val="0D0A17"/>
                </a:solidFill>
              </a:rPr>
              <a:t>We measure your</a:t>
            </a:r>
          </a:p>
        </p:txBody>
      </p:sp>
      <p:sp>
        <p:nvSpPr>
          <p:cNvPr id="5" name="lead-two">
            <a:extLst xmlns:a="http://schemas.openxmlformats.org/drawingml/2006/main">
              <a:ext uri="{FF2B5EF4-FFF2-40B4-BE49-F238E27FC236}">
                <a16:creationId xmlns:a16="http://schemas.microsoft.com/office/drawing/2014/main" id="{D325E24B-F0D4-4956-A6EF-489AFD4632A4}"/>
              </a:ext>
            </a:extLst>
          </p:cNvPr>
          <p:cNvSpPr>
            <a:spLocks xmlns:a="http://schemas.openxmlformats.org/drawingml/2006/main" noGrp="1"/>
          </p:cNvSpPr>
          <p:nvPr/>
        </p:nvSpPr>
        <p:spPr>
          <a:xfrm xmlns:a="http://schemas.openxmlformats.org/drawingml/2006/main">
            <a:off x="685800" y="2857500"/>
            <a:ext cx="8096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225" b="1">
                <a:solidFill>
                  <a:srgbClr val="6C55E8"/>
                </a:solidFill>
              </a:defRPr>
            </a:pPr>
            <a:r>
              <a:rPr sz="3225" b="1">
                <a:solidFill>
                  <a:srgbClr val="6C55E8"/>
                </a:solidFill>
              </a:rPr>
              <a:t>cognitive heart-rate threshold</a:t>
            </a:r>
          </a:p>
        </p:txBody>
      </p:sp>
      <p:sp>
        <p:nvSpPr>
          <p:cNvPr id="6" name="lead-three">
            <a:extLst xmlns:a="http://schemas.openxmlformats.org/drawingml/2006/main">
              <a:ext uri="{FF2B5EF4-FFF2-40B4-BE49-F238E27FC236}">
                <a16:creationId xmlns:a16="http://schemas.microsoft.com/office/drawing/2014/main" id="{817D90BE-4BC3-4156-950E-48976B6FC9EA}"/>
              </a:ext>
            </a:extLst>
          </p:cNvPr>
          <p:cNvSpPr>
            <a:spLocks xmlns:a="http://schemas.openxmlformats.org/drawingml/2006/main" noGrp="1"/>
          </p:cNvSpPr>
          <p:nvPr/>
        </p:nvSpPr>
        <p:spPr>
          <a:xfrm xmlns:a="http://schemas.openxmlformats.org/drawingml/2006/main">
            <a:off x="685800" y="3476625"/>
            <a:ext cx="828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0D0A17"/>
                </a:solidFill>
              </a:defRPr>
            </a:pPr>
            <a:r>
              <a:rPr sz="2625" b="1">
                <a:solidFill>
                  <a:srgbClr val="0D0A17"/>
                </a:solidFill>
              </a:rPr>
              <a:t>— how sharp you stay as body load changes.</a:t>
            </a:r>
          </a:p>
        </p:txBody>
      </p:sp>
      <p:sp>
        <p:nvSpPr>
          <p:cNvPr id="7" name="positioning-rule">
            <a:extLst xmlns:a="http://schemas.openxmlformats.org/drawingml/2006/main">
              <a:ext uri="{FF2B5EF4-FFF2-40B4-BE49-F238E27FC236}">
                <a16:creationId xmlns:a16="http://schemas.microsoft.com/office/drawing/2014/main" id="{B755D993-32D5-4FD4-87D5-7DDA1603D20B}"/>
              </a:ext>
            </a:extLst>
          </p:cNvPr>
          <p:cNvSpPr>
            <a:spLocks xmlns:a="http://schemas.openxmlformats.org/drawingml/2006/main" noGrp="1"/>
          </p:cNvSpPr>
          <p:nvPr/>
        </p:nvSpPr>
        <p:spPr>
          <a:xfrm xmlns:a="http://schemas.openxmlformats.org/drawingml/2006/main">
            <a:off x="685800" y="4381500"/>
            <a:ext cx="1809750" cy="47625"/>
          </a:xfrm>
          <a:prstGeom xmlns:a="http://schemas.openxmlformats.org/drawingml/2006/main" prst="rect">
            <a:avLst/>
          </a:prstGeom>
          <a:solidFill xmlns:a="http://schemas.openxmlformats.org/drawingml/2006/main">
            <a:srgbClr val="6C55E8"/>
          </a:solidFill>
          <a:ln xmlns:a="http://schemas.openxmlformats.org/drawingml/2006/main" w="0">
            <a:noFill/>
            <a:prstDash val="solid"/>
          </a:ln>
        </p:spPr>
      </p:sp>
      <p:sp>
        <p:nvSpPr>
          <p:cNvPr id="8" name="punchline">
            <a:extLst xmlns:a="http://schemas.openxmlformats.org/drawingml/2006/main">
              <a:ext uri="{FF2B5EF4-FFF2-40B4-BE49-F238E27FC236}">
                <a16:creationId xmlns:a16="http://schemas.microsoft.com/office/drawing/2014/main" id="{57EAB869-B62B-40B6-BECF-C7FCD8499BB2}"/>
              </a:ext>
            </a:extLst>
          </p:cNvPr>
          <p:cNvSpPr>
            <a:spLocks xmlns:a="http://schemas.openxmlformats.org/drawingml/2006/main" noGrp="1"/>
          </p:cNvSpPr>
          <p:nvPr/>
        </p:nvSpPr>
        <p:spPr>
          <a:xfrm xmlns:a="http://schemas.openxmlformats.org/drawingml/2006/main">
            <a:off x="685800" y="4619625"/>
            <a:ext cx="933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666474"/>
                </a:solidFill>
              </a:defRPr>
            </a:pPr>
            <a:r>
              <a:rPr sz="1875" b="1">
                <a:solidFill>
                  <a:srgbClr val="666474"/>
                </a:solidFill>
              </a:rPr>
              <a:t>Fastest legs don’t win. Fastest thinking under load does.</a:t>
            </a:r>
          </a:p>
        </p:txBody>
      </p:sp>
      <p:sp>
        <p:nvSpPr>
          <p:cNvPr id="9" name="proof-line">
            <a:extLst xmlns:a="http://schemas.openxmlformats.org/drawingml/2006/main">
              <a:ext uri="{FF2B5EF4-FFF2-40B4-BE49-F238E27FC236}">
                <a16:creationId xmlns:a16="http://schemas.microsoft.com/office/drawing/2014/main" id="{2EFC874C-E338-4758-A6F2-2EA845805213}"/>
              </a:ext>
            </a:extLst>
          </p:cNvPr>
          <p:cNvSpPr>
            <a:spLocks xmlns:a="http://schemas.openxmlformats.org/drawingml/2006/main" noGrp="1"/>
          </p:cNvSpPr>
          <p:nvPr/>
        </p:nvSpPr>
        <p:spPr>
          <a:xfrm xmlns:a="http://schemas.openxmlformats.org/drawingml/2006/main">
            <a:off x="685800" y="5657850"/>
            <a:ext cx="771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666474"/>
                </a:solidFill>
              </a:defRPr>
            </a:pPr>
            <a:r>
              <a:rPr sz="1350" b="1">
                <a:solidFill>
                  <a:srgbClr val="666474"/>
                </a:solidFill>
              </a:rPr>
              <a:t>Android prototype · voice questions · live GPS + heart rate</a:t>
            </a:r>
          </a:p>
        </p:txBody>
      </p:sp>
      <p:sp>
        <p:nvSpPr>
          <p:cNvPr id="10" name="qualifier">
            <a:extLst xmlns:a="http://schemas.openxmlformats.org/drawingml/2006/main">
              <a:ext uri="{FF2B5EF4-FFF2-40B4-BE49-F238E27FC236}">
                <a16:creationId xmlns:a16="http://schemas.microsoft.com/office/drawing/2014/main" id="{DE090F83-0138-47BA-B797-18E714525CC1}"/>
              </a:ext>
            </a:extLst>
          </p:cNvPr>
          <p:cNvSpPr>
            <a:spLocks xmlns:a="http://schemas.openxmlformats.org/drawingml/2006/main" noGrp="1"/>
          </p:cNvSpPr>
          <p:nvPr/>
        </p:nvSpPr>
        <p:spPr>
          <a:xfrm xmlns:a="http://schemas.openxmlformats.org/drawingml/2006/main">
            <a:off x="685800" y="609600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6C55E8"/>
                </a:solidFill>
              </a:defRPr>
            </a:pPr>
            <a:r>
              <a:rPr sz="1125" b="0">
                <a:solidFill>
                  <a:srgbClr val="6C55E8"/>
                </a:solidFill>
              </a:rPr>
              <a:t>Provisional · task-specific · baseline-relative</a:t>
            </a:r>
          </a:p>
        </p:txBody>
      </p:sp>
      <p:sp>
        <p:nvSpPr>
          <p:cNvPr id="11" name="runner-emoji">
            <a:extLst xmlns:a="http://schemas.openxmlformats.org/drawingml/2006/main">
              <a:ext uri="{FF2B5EF4-FFF2-40B4-BE49-F238E27FC236}">
                <a16:creationId xmlns:a16="http://schemas.microsoft.com/office/drawing/2014/main" id="{D092ADA0-DAE3-4781-94FE-9071B6891CC9}"/>
              </a:ext>
            </a:extLst>
          </p:cNvPr>
          <p:cNvSpPr>
            <a:spLocks xmlns:a="http://schemas.openxmlformats.org/drawingml/2006/main" noGrp="1"/>
          </p:cNvSpPr>
          <p:nvPr/>
        </p:nvSpPr>
        <p:spPr>
          <a:xfrm xmlns:a="http://schemas.openxmlformats.org/drawingml/2006/main">
            <a:off x="10572750" y="4953000"/>
            <a:ext cx="9048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4350" b="0">
                <a:solidFill>
                  <a:srgbClr val="0D0A17"/>
                </a:solidFill>
              </a:defRPr>
            </a:pPr>
            <a:r>
              <a:rPr sz="4350" b="0">
                <a:solidFill>
                  <a:srgbClr val="0D0A17"/>
                </a:solidFill>
              </a:rPr>
              <a:t>🏃</a:t>
            </a:r>
          </a:p>
        </p:txBody>
      </p:sp>
    </p:spTree>
    <p:extLst>
      <p:ext uri="{BB962C8B-B14F-4D97-AF65-F5344CB8AC3E}">
        <p14:creationId xmlns:p14="http://schemas.microsoft.com/office/powerpoint/2010/main" val="725870054"/>
      </p:ext>
    </p:extLst>
  </p:cSld>
</p:sld>
</file>

<file path=ppt/slides/slide2.xml><?xml version="1.0" encoding="utf-8"?>
<p:sld xmlns:p="http://schemas.openxmlformats.org/presentationml/2006/main">
  <p:cSld>
    <p:bg>
      <p:bgPr>
        <a:solidFill xmlns:a="http://schemas.openxmlformats.org/drawingml/2006/main">
          <a:srgbClr val="0D0A17"/>
        </a:solidFill>
      </p:bgPr>
    </p:bg>
    <p:spTree>
      <p:nvGrpSpPr>
        <p:cNvPr id="1" name=""/>
        <p:cNvGrpSpPr/>
        <p:nvPr/>
      </p:nvGrpSpPr>
      <p:grpSpPr>
        <a:xfrm xmlns:a="http://schemas.openxmlformats.org/drawingml/2006/main"/>
      </p:grpSpPr>
      <p:sp>
        <p:nvSpPr>
          <p:cNvPr id="21" name="demo-glow">
            <a:extLst xmlns:a="http://schemas.openxmlformats.org/drawingml/2006/main">
              <a:ext uri="{FF2B5EF4-FFF2-40B4-BE49-F238E27FC236}">
                <a16:creationId xmlns:a16="http://schemas.microsoft.com/office/drawing/2014/main" id="{55C88D19-AD84-480D-AAF5-E80A6221826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0D0A17"/>
              </a:gs>
              <a:gs pos="58000">
                <a:srgbClr val="161029"/>
              </a:gs>
              <a:gs pos="100000">
                <a:srgbClr val="21183B"/>
              </a:gs>
            </a:gsLst>
            <a:lin ang="5400000"/>
          </a:gra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EFA1F9B8-34F0-46D6-BA8E-18ED209C33A4}"/>
              </a:ext>
            </a:extLst>
          </p:cNvPr>
          <p:cNvSpPr>
            <a:spLocks xmlns:a="http://schemas.openxmlformats.org/drawingml/2006/main" noGrp="1"/>
          </p:cNvSpPr>
          <p:nvPr/>
        </p:nvSpPr>
        <p:spPr>
          <a:xfrm xmlns:a="http://schemas.openxmlformats.org/drawingml/2006/main">
            <a:off x="628650" y="3619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D9FF63"/>
                </a:solidFill>
              </a:defRPr>
            </a:pPr>
            <a:r>
              <a:rPr sz="1200" b="1">
                <a:solidFill>
                  <a:srgbClr val="D9FF63"/>
                </a:solidFill>
              </a:rPr>
              <a:t>LIVE PRODUCT DEMO</a:t>
            </a:r>
          </a:p>
        </p:txBody>
      </p:sp>
      <p:sp>
        <p:nvSpPr>
          <p:cNvPr id="3" name="title">
            <a:extLst xmlns:a="http://schemas.openxmlformats.org/drawingml/2006/main">
              <a:ext uri="{FF2B5EF4-FFF2-40B4-BE49-F238E27FC236}">
                <a16:creationId xmlns:a16="http://schemas.microsoft.com/office/drawing/2014/main" id="{986354A4-3894-4B9A-B166-BA2A6C660A6F}"/>
              </a:ext>
            </a:extLst>
          </p:cNvPr>
          <p:cNvSpPr>
            <a:spLocks xmlns:a="http://schemas.openxmlformats.org/drawingml/2006/main" noGrp="1"/>
          </p:cNvSpPr>
          <p:nvPr/>
        </p:nvSpPr>
        <p:spPr>
          <a:xfrm xmlns:a="http://schemas.openxmlformats.org/drawingml/2006/main">
            <a:off x="628650" y="666750"/>
            <a:ext cx="1057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FFFFFF"/>
                </a:solidFill>
              </a:defRPr>
            </a:pPr>
            <a:r>
              <a:rPr sz="2925" b="1">
                <a:solidFill>
                  <a:srgbClr val="FFFFFF"/>
                </a:solidFill>
              </a:rPr>
              <a:t>ONE RUN. ONE LIVE COGNITIVE CHECKPOINT.</a:t>
            </a:r>
          </a:p>
        </p:txBody>
      </p:sp>
      <p:sp>
        <p:nvSpPr>
          <p:cNvPr id="4" name="runner-label">
            <a:extLst xmlns:a="http://schemas.openxmlformats.org/drawingml/2006/main">
              <a:ext uri="{FF2B5EF4-FFF2-40B4-BE49-F238E27FC236}">
                <a16:creationId xmlns:a16="http://schemas.microsoft.com/office/drawing/2014/main" id="{AEA48C55-920C-4444-98F6-F446B357170D}"/>
              </a:ext>
            </a:extLst>
          </p:cNvPr>
          <p:cNvSpPr>
            <a:spLocks xmlns:a="http://schemas.openxmlformats.org/drawingml/2006/main" noGrp="1"/>
          </p:cNvSpPr>
          <p:nvPr/>
        </p:nvSpPr>
        <p:spPr>
          <a:xfrm xmlns:a="http://schemas.openxmlformats.org/drawingml/2006/main">
            <a:off x="628650" y="1381125"/>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D9FF63"/>
                </a:solidFill>
              </a:defRPr>
            </a:pPr>
            <a:r>
              <a:rPr sz="1125" b="1">
                <a:solidFill>
                  <a:srgbClr val="D9FF63"/>
                </a:solidFill>
              </a:rPr>
              <a:t>RUNNER + GARMIN</a:t>
            </a:r>
          </a:p>
        </p:txBody>
      </p:sp>
      <p:sp>
        <p:nvSpPr>
          <p:cNvPr id="5" name="runner-frame">
            <a:extLst xmlns:a="http://schemas.openxmlformats.org/drawingml/2006/main">
              <a:ext uri="{FF2B5EF4-FFF2-40B4-BE49-F238E27FC236}">
                <a16:creationId xmlns:a16="http://schemas.microsoft.com/office/drawing/2014/main" id="{7237D992-A09C-4B72-9AA7-264C0ED282B3}"/>
              </a:ext>
            </a:extLst>
          </p:cNvPr>
          <p:cNvSpPr>
            <a:spLocks xmlns:a="http://schemas.openxmlformats.org/drawingml/2006/main" noGrp="1"/>
          </p:cNvSpPr>
          <p:nvPr/>
        </p:nvSpPr>
        <p:spPr>
          <a:xfrm xmlns:a="http://schemas.openxmlformats.org/drawingml/2006/main">
            <a:off x="628650" y="1695450"/>
            <a:ext cx="4762500" cy="4095750"/>
          </a:xfrm>
          <a:prstGeom xmlns:a="http://schemas.openxmlformats.org/drawingml/2006/main" prst="roundRect">
            <a:avLst>
              <a:gd name="adj" fmla="val 5581"/>
            </a:avLst>
          </a:prstGeom>
          <a:solidFill xmlns:a="http://schemas.openxmlformats.org/drawingml/2006/main">
            <a:srgbClr val="101422"/>
          </a:solidFill>
          <a:ln xmlns:a="http://schemas.openxmlformats.org/drawingml/2006/main" w="9525">
            <a:solidFill>
              <a:srgbClr val="FFFFFF">
                <a:alpha val="18000"/>
              </a:srgbClr>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13a5c4577fe74b69"/>
          <a:srcRect xmlns:a="http://schemas.openxmlformats.org/drawingml/2006/main" l="0" t="18015" r="0" b="18015"/>
          <a:stretch xmlns:a="http://schemas.openxmlformats.org/drawingml/2006/main">
            <a:fillRect l="0" t="0" r="0" b="0"/>
          </a:stretch>
        </p:blipFill>
        <p:spPr>
          <a:xfrm xmlns:a="http://schemas.openxmlformats.org/drawingml/2006/main">
            <a:off x="742950" y="1809750"/>
            <a:ext cx="4533900" cy="3867150"/>
          </a:xfrm>
          <a:prstGeom xmlns:a="http://schemas.openxmlformats.org/drawingml/2006/main" prst="roundRect">
            <a:avLst>
              <a:gd name="adj" fmla="val 5419"/>
            </a:avLst>
          </a:prstGeom>
        </p:spPr>
      </p:pic>
      <p:sp>
        <p:nvSpPr>
          <p:cNvPr id="7" name="flow-arrow">
            <a:extLst xmlns:a="http://schemas.openxmlformats.org/drawingml/2006/main">
              <a:ext uri="{FF2B5EF4-FFF2-40B4-BE49-F238E27FC236}">
                <a16:creationId xmlns:a16="http://schemas.microsoft.com/office/drawing/2014/main" id="{E651EB01-F005-4012-A0A7-C5DF6CB0AECB}"/>
              </a:ext>
            </a:extLst>
          </p:cNvPr>
          <p:cNvSpPr>
            <a:spLocks xmlns:a="http://schemas.openxmlformats.org/drawingml/2006/main" noGrp="1"/>
          </p:cNvSpPr>
          <p:nvPr/>
        </p:nvSpPr>
        <p:spPr>
          <a:xfrm xmlns:a="http://schemas.openxmlformats.org/drawingml/2006/main">
            <a:off x="5676900" y="3190875"/>
            <a:ext cx="85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900" b="1">
                <a:solidFill>
                  <a:srgbClr val="6C55E8"/>
                </a:solidFill>
              </a:defRPr>
            </a:pPr>
            <a:r>
              <a:rPr sz="3900" b="1">
                <a:solidFill>
                  <a:srgbClr val="6C55E8"/>
                </a:solidFill>
              </a:rPr>
              <a:t>→</a:t>
            </a:r>
          </a:p>
        </p:txBody>
      </p:sp>
      <p:sp>
        <p:nvSpPr>
          <p:cNvPr id="8" name="flow-copy">
            <a:extLst xmlns:a="http://schemas.openxmlformats.org/drawingml/2006/main">
              <a:ext uri="{FF2B5EF4-FFF2-40B4-BE49-F238E27FC236}">
                <a16:creationId xmlns:a16="http://schemas.microsoft.com/office/drawing/2014/main" id="{EE963154-CA9B-41F3-AC9B-A27BA83DDF2B}"/>
              </a:ext>
            </a:extLst>
          </p:cNvPr>
          <p:cNvSpPr>
            <a:spLocks xmlns:a="http://schemas.openxmlformats.org/drawingml/2006/main" noGrp="1"/>
          </p:cNvSpPr>
          <p:nvPr/>
        </p:nvSpPr>
        <p:spPr>
          <a:xfrm xmlns:a="http://schemas.openxmlformats.org/drawingml/2006/main">
            <a:off x="5581650" y="3905250"/>
            <a:ext cx="1047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C9C2EE"/>
                </a:solidFill>
              </a:defRPr>
            </a:pPr>
            <a:r>
              <a:rPr sz="1125" b="1">
                <a:solidFill>
                  <a:srgbClr val="C9C2EE"/>
                </a:solidFill>
              </a:rPr>
              <a:t>voice prompt</a:t>
            </a:r>
          </a:p>
          <a:p xmlns:a="http://schemas.openxmlformats.org/drawingml/2006/main">
            <a:pPr algn="ctr">
              <a:defRPr sz="1125" b="1">
                <a:solidFill>
                  <a:srgbClr val="C9C2EE"/>
                </a:solidFill>
              </a:defRPr>
            </a:pPr>
            <a:r>
              <a:rPr sz="1125" b="1">
                <a:solidFill>
                  <a:srgbClr val="C9C2EE"/>
                </a:solidFill>
              </a:rPr>
              <a:t>spoken answer</a:t>
            </a:r>
          </a:p>
        </p:txBody>
      </p:sp>
      <p:sp>
        <p:nvSpPr>
          <p:cNvPr id="9" name="app-label">
            <a:extLst xmlns:a="http://schemas.openxmlformats.org/drawingml/2006/main">
              <a:ext uri="{FF2B5EF4-FFF2-40B4-BE49-F238E27FC236}">
                <a16:creationId xmlns:a16="http://schemas.microsoft.com/office/drawing/2014/main" id="{9AD33666-6EFE-45BB-97E4-C63E0ED70279}"/>
              </a:ext>
            </a:extLst>
          </p:cNvPr>
          <p:cNvSpPr>
            <a:spLocks xmlns:a="http://schemas.openxmlformats.org/drawingml/2006/main" noGrp="1"/>
          </p:cNvSpPr>
          <p:nvPr/>
        </p:nvSpPr>
        <p:spPr>
          <a:xfrm xmlns:a="http://schemas.openxmlformats.org/drawingml/2006/main">
            <a:off x="6858000" y="138112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42C7EA"/>
                </a:solidFill>
              </a:defRPr>
            </a:pPr>
            <a:r>
              <a:rPr sz="1125" b="1">
                <a:solidFill>
                  <a:srgbClr val="42C7EA"/>
                </a:solidFill>
              </a:rPr>
              <a:t>REAL COGNIRUN APP</a:t>
            </a:r>
          </a:p>
        </p:txBody>
      </p:sp>
      <p:sp>
        <p:nvSpPr>
          <p:cNvPr id="10" name="phone-frame">
            <a:extLst xmlns:a="http://schemas.openxmlformats.org/drawingml/2006/main">
              <a:ext uri="{FF2B5EF4-FFF2-40B4-BE49-F238E27FC236}">
                <a16:creationId xmlns:a16="http://schemas.microsoft.com/office/drawing/2014/main" id="{E5C40A10-7750-4D88-BD54-7514ED0EE0E6}"/>
              </a:ext>
            </a:extLst>
          </p:cNvPr>
          <p:cNvSpPr>
            <a:spLocks xmlns:a="http://schemas.openxmlformats.org/drawingml/2006/main" noGrp="1"/>
          </p:cNvSpPr>
          <p:nvPr/>
        </p:nvSpPr>
        <p:spPr>
          <a:xfrm xmlns:a="http://schemas.openxmlformats.org/drawingml/2006/main">
            <a:off x="6858000" y="1695450"/>
            <a:ext cx="3429000" cy="4095750"/>
          </a:xfrm>
          <a:prstGeom xmlns:a="http://schemas.openxmlformats.org/drawingml/2006/main" prst="roundRect">
            <a:avLst>
              <a:gd name="adj" fmla="val 7778"/>
            </a:avLst>
          </a:prstGeom>
          <a:solidFill xmlns:a="http://schemas.openxmlformats.org/drawingml/2006/main">
            <a:srgbClr val="0B111D"/>
          </a:solidFill>
          <a:ln xmlns:a="http://schemas.openxmlformats.org/drawingml/2006/main" w="9525">
            <a:solidFill>
              <a:srgbClr val="FFFFFF">
                <a:alpha val="22000"/>
              </a:srgbClr>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4bba2696bf84334"/>
          <a:stretch xmlns:a="http://schemas.openxmlformats.org/drawingml/2006/main"/>
        </p:blipFill>
        <p:spPr>
          <a:xfrm xmlns:a="http://schemas.openxmlformats.org/drawingml/2006/main">
            <a:off x="7402513" y="1828800"/>
            <a:ext cx="2339975" cy="3829050"/>
          </a:xfrm>
          <a:prstGeom xmlns:a="http://schemas.openxmlformats.org/drawingml/2006/main" prst="roundRect">
            <a:avLst>
              <a:gd name="adj" fmla="val 6897"/>
            </a:avLst>
          </a:prstGeom>
        </p:spPr>
      </p:pic>
      <p:sp>
        <p:nvSpPr>
          <p:cNvPr id="12" name="demo-step-one">
            <a:extLst xmlns:a="http://schemas.openxmlformats.org/drawingml/2006/main">
              <a:ext uri="{FF2B5EF4-FFF2-40B4-BE49-F238E27FC236}">
                <a16:creationId xmlns:a16="http://schemas.microsoft.com/office/drawing/2014/main" id="{A9B4536F-CC42-4D1B-9B65-D7CA959504EA}"/>
              </a:ext>
            </a:extLst>
          </p:cNvPr>
          <p:cNvSpPr>
            <a:spLocks xmlns:a="http://schemas.openxmlformats.org/drawingml/2006/main" noGrp="1"/>
          </p:cNvSpPr>
          <p:nvPr/>
        </p:nvSpPr>
        <p:spPr>
          <a:xfrm xmlns:a="http://schemas.openxmlformats.org/drawingml/2006/main">
            <a:off x="10572750" y="1952625"/>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6C55E8"/>
                </a:solidFill>
              </a:defRPr>
            </a:pPr>
            <a:r>
              <a:rPr sz="1275" b="1">
                <a:solidFill>
                  <a:srgbClr val="6C55E8"/>
                </a:solidFill>
              </a:rPr>
              <a:t>1  PROMPT</a:t>
            </a:r>
          </a:p>
        </p:txBody>
      </p:sp>
      <p:sp>
        <p:nvSpPr>
          <p:cNvPr id="13" name="demo-step-one-body">
            <a:extLst xmlns:a="http://schemas.openxmlformats.org/drawingml/2006/main">
              <a:ext uri="{FF2B5EF4-FFF2-40B4-BE49-F238E27FC236}">
                <a16:creationId xmlns:a16="http://schemas.microsoft.com/office/drawing/2014/main" id="{80D150B2-DD99-42E1-9AB2-5A7AD1A337CA}"/>
              </a:ext>
            </a:extLst>
          </p:cNvPr>
          <p:cNvSpPr>
            <a:spLocks xmlns:a="http://schemas.openxmlformats.org/drawingml/2006/main" noGrp="1"/>
          </p:cNvSpPr>
          <p:nvPr/>
        </p:nvSpPr>
        <p:spPr>
          <a:xfrm xmlns:a="http://schemas.openxmlformats.org/drawingml/2006/main">
            <a:off x="10572750" y="2266950"/>
            <a:ext cx="1238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FFFFFF"/>
                </a:solidFill>
              </a:defRPr>
            </a:pPr>
            <a:r>
              <a:rPr sz="1425" b="1">
                <a:solidFill>
                  <a:srgbClr val="FFFFFF"/>
                </a:solidFill>
              </a:rPr>
              <a:t>Hands-free</a:t>
            </a:r>
          </a:p>
          <a:p xmlns:a="http://schemas.openxmlformats.org/drawingml/2006/main">
            <a:pPr algn="l">
              <a:defRPr sz="1425" b="1">
                <a:solidFill>
                  <a:srgbClr val="FFFFFF"/>
                </a:solidFill>
              </a:defRPr>
            </a:pPr>
            <a:r>
              <a:rPr sz="1425" b="1">
                <a:solidFill>
                  <a:srgbClr val="FFFFFF"/>
                </a:solidFill>
              </a:rPr>
              <a:t>question</a:t>
            </a:r>
          </a:p>
        </p:txBody>
      </p:sp>
      <p:sp>
        <p:nvSpPr>
          <p:cNvPr id="14" name="demo-step-two">
            <a:extLst xmlns:a="http://schemas.openxmlformats.org/drawingml/2006/main">
              <a:ext uri="{FF2B5EF4-FFF2-40B4-BE49-F238E27FC236}">
                <a16:creationId xmlns:a16="http://schemas.microsoft.com/office/drawing/2014/main" id="{A04D5A4E-92B0-4BF2-8095-173CAA196404}"/>
              </a:ext>
            </a:extLst>
          </p:cNvPr>
          <p:cNvSpPr>
            <a:spLocks xmlns:a="http://schemas.openxmlformats.org/drawingml/2006/main" noGrp="1"/>
          </p:cNvSpPr>
          <p:nvPr/>
        </p:nvSpPr>
        <p:spPr>
          <a:xfrm xmlns:a="http://schemas.openxmlformats.org/drawingml/2006/main">
            <a:off x="10572750" y="3190875"/>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F705C"/>
                </a:solidFill>
              </a:defRPr>
            </a:pPr>
            <a:r>
              <a:rPr sz="1275" b="1">
                <a:solidFill>
                  <a:srgbClr val="FF705C"/>
                </a:solidFill>
              </a:rPr>
              <a:t>2  ANSWER</a:t>
            </a:r>
          </a:p>
        </p:txBody>
      </p:sp>
      <p:sp>
        <p:nvSpPr>
          <p:cNvPr id="15" name="demo-step-two-body">
            <a:extLst xmlns:a="http://schemas.openxmlformats.org/drawingml/2006/main">
              <a:ext uri="{FF2B5EF4-FFF2-40B4-BE49-F238E27FC236}">
                <a16:creationId xmlns:a16="http://schemas.microsoft.com/office/drawing/2014/main" id="{3B943865-61AA-42CD-A030-75AFD476F0FB}"/>
              </a:ext>
            </a:extLst>
          </p:cNvPr>
          <p:cNvSpPr>
            <a:spLocks xmlns:a="http://schemas.openxmlformats.org/drawingml/2006/main" noGrp="1"/>
          </p:cNvSpPr>
          <p:nvPr/>
        </p:nvSpPr>
        <p:spPr>
          <a:xfrm xmlns:a="http://schemas.openxmlformats.org/drawingml/2006/main">
            <a:off x="10572750" y="3505200"/>
            <a:ext cx="1238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FFFFFF"/>
                </a:solidFill>
              </a:defRPr>
            </a:pPr>
            <a:r>
              <a:rPr sz="1425" b="1">
                <a:solidFill>
                  <a:srgbClr val="FFFFFF"/>
                </a:solidFill>
              </a:rPr>
              <a:t>Speech judged</a:t>
            </a:r>
          </a:p>
          <a:p xmlns:a="http://schemas.openxmlformats.org/drawingml/2006/main">
            <a:pPr algn="l">
              <a:defRPr sz="1425" b="1">
                <a:solidFill>
                  <a:srgbClr val="FFFFFF"/>
                </a:solidFill>
              </a:defRPr>
            </a:pPr>
            <a:r>
              <a:rPr sz="1425" b="1">
                <a:solidFill>
                  <a:srgbClr val="FFFFFF"/>
                </a:solidFill>
              </a:rPr>
              <a:t>locally</a:t>
            </a:r>
          </a:p>
        </p:txBody>
      </p:sp>
      <p:sp>
        <p:nvSpPr>
          <p:cNvPr id="16" name="demo-step-three">
            <a:extLst xmlns:a="http://schemas.openxmlformats.org/drawingml/2006/main">
              <a:ext uri="{FF2B5EF4-FFF2-40B4-BE49-F238E27FC236}">
                <a16:creationId xmlns:a16="http://schemas.microsoft.com/office/drawing/2014/main" id="{2A24C245-0B38-445F-8D3B-FF325D535E72}"/>
              </a:ext>
            </a:extLst>
          </p:cNvPr>
          <p:cNvSpPr>
            <a:spLocks xmlns:a="http://schemas.openxmlformats.org/drawingml/2006/main" noGrp="1"/>
          </p:cNvSpPr>
          <p:nvPr/>
        </p:nvSpPr>
        <p:spPr>
          <a:xfrm xmlns:a="http://schemas.openxmlformats.org/drawingml/2006/main">
            <a:off x="10572750" y="4429125"/>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D9FF63"/>
                </a:solidFill>
              </a:defRPr>
            </a:pPr>
            <a:r>
              <a:rPr sz="1275" b="1">
                <a:solidFill>
                  <a:srgbClr val="D9FF63"/>
                </a:solidFill>
              </a:rPr>
              <a:t>3  MAP</a:t>
            </a:r>
          </a:p>
        </p:txBody>
      </p:sp>
      <p:sp>
        <p:nvSpPr>
          <p:cNvPr id="17" name="demo-step-three-body">
            <a:extLst xmlns:a="http://schemas.openxmlformats.org/drawingml/2006/main">
              <a:ext uri="{FF2B5EF4-FFF2-40B4-BE49-F238E27FC236}">
                <a16:creationId xmlns:a16="http://schemas.microsoft.com/office/drawing/2014/main" id="{F9BA8E7D-F8C0-4DE3-ABF1-9B6927377DA3}"/>
              </a:ext>
            </a:extLst>
          </p:cNvPr>
          <p:cNvSpPr>
            <a:spLocks xmlns:a="http://schemas.openxmlformats.org/drawingml/2006/main" noGrp="1"/>
          </p:cNvSpPr>
          <p:nvPr/>
        </p:nvSpPr>
        <p:spPr>
          <a:xfrm xmlns:a="http://schemas.openxmlformats.org/drawingml/2006/main">
            <a:off x="10572750" y="4743450"/>
            <a:ext cx="1238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FFFFFF"/>
                </a:solidFill>
              </a:defRPr>
            </a:pPr>
            <a:r>
              <a:rPr sz="1425" b="1">
                <a:solidFill>
                  <a:srgbClr val="FFFFFF"/>
                </a:solidFill>
              </a:rPr>
              <a:t>Result tied to</a:t>
            </a:r>
          </a:p>
          <a:p xmlns:a="http://schemas.openxmlformats.org/drawingml/2006/main">
            <a:pPr algn="l">
              <a:defRPr sz="1425" b="1">
                <a:solidFill>
                  <a:srgbClr val="FFFFFF"/>
                </a:solidFill>
              </a:defRPr>
            </a:pPr>
            <a:r>
              <a:rPr sz="1425" b="1">
                <a:solidFill>
                  <a:srgbClr val="FFFFFF"/>
                </a:solidFill>
              </a:rPr>
              <a:t>pace + state</a:t>
            </a:r>
          </a:p>
        </p:txBody>
      </p:sp>
      <p:sp>
        <p:nvSpPr>
          <p:cNvPr id="18" name="demo-footer-rule">
            <a:extLst xmlns:a="http://schemas.openxmlformats.org/drawingml/2006/main">
              <a:ext uri="{FF2B5EF4-FFF2-40B4-BE49-F238E27FC236}">
                <a16:creationId xmlns:a16="http://schemas.microsoft.com/office/drawing/2014/main" id="{6D3A4A95-8D4C-4FAC-BDFF-084FC02FC294}"/>
              </a:ext>
            </a:extLst>
          </p:cNvPr>
          <p:cNvSpPr>
            <a:spLocks xmlns:a="http://schemas.openxmlformats.org/drawingml/2006/main" noGrp="1"/>
          </p:cNvSpPr>
          <p:nvPr/>
        </p:nvSpPr>
        <p:spPr>
          <a:xfrm xmlns:a="http://schemas.openxmlformats.org/drawingml/2006/main">
            <a:off x="628650" y="6048375"/>
            <a:ext cx="11182350" cy="19050"/>
          </a:xfrm>
          <a:prstGeom xmlns:a="http://schemas.openxmlformats.org/drawingml/2006/main" prst="rect">
            <a:avLst/>
          </a:prstGeom>
          <a:solidFill xmlns:a="http://schemas.openxmlformats.org/drawingml/2006/main">
            <a:srgbClr val="FFFFFF">
              <a:alpha val="20000"/>
            </a:srgbClr>
          </a:solidFill>
          <a:ln xmlns:a="http://schemas.openxmlformats.org/drawingml/2006/main" w="0">
            <a:noFill/>
            <a:prstDash val="solid"/>
          </a:ln>
        </p:spPr>
      </p:sp>
      <p:sp>
        <p:nvSpPr>
          <p:cNvPr id="19" name="demo-footer">
            <a:extLst xmlns:a="http://schemas.openxmlformats.org/drawingml/2006/main">
              <a:ext uri="{FF2B5EF4-FFF2-40B4-BE49-F238E27FC236}">
                <a16:creationId xmlns:a16="http://schemas.microsoft.com/office/drawing/2014/main" id="{E6D7C00E-15EE-4E65-A229-01978FC85513}"/>
              </a:ext>
            </a:extLst>
          </p:cNvPr>
          <p:cNvSpPr>
            <a:spLocks xmlns:a="http://schemas.openxmlformats.org/drawingml/2006/main" noGrp="1"/>
          </p:cNvSpPr>
          <p:nvPr/>
        </p:nvSpPr>
        <p:spPr>
          <a:xfrm xmlns:a="http://schemas.openxmlformats.org/drawingml/2006/main">
            <a:off x="628650" y="6191250"/>
            <a:ext cx="790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FFFFF"/>
                </a:solidFill>
              </a:defRPr>
            </a:pPr>
            <a:r>
              <a:rPr sz="1350" b="1">
                <a:solidFill>
                  <a:srgbClr val="FFFFFF"/>
                </a:solidFill>
              </a:rPr>
              <a:t>VOICE → ANSWER → LOCAL JUDGEMENT → BODY × BRAIN RESULT</a:t>
            </a:r>
          </a:p>
        </p:txBody>
      </p:sp>
      <p:sp>
        <p:nvSpPr>
          <p:cNvPr id="20" name="demo-truth">
            <a:extLst xmlns:a="http://schemas.openxmlformats.org/drawingml/2006/main">
              <a:ext uri="{FF2B5EF4-FFF2-40B4-BE49-F238E27FC236}">
                <a16:creationId xmlns:a16="http://schemas.microsoft.com/office/drawing/2014/main" id="{C932F202-CE8D-4154-AADD-A024326BA7A7}"/>
              </a:ext>
            </a:extLst>
          </p:cNvPr>
          <p:cNvSpPr>
            <a:spLocks xmlns:a="http://schemas.openxmlformats.org/drawingml/2006/main" noGrp="1"/>
          </p:cNvSpPr>
          <p:nvPr/>
        </p:nvSpPr>
        <p:spPr>
          <a:xfrm xmlns:a="http://schemas.openxmlformats.org/drawingml/2006/main">
            <a:off x="8572500" y="61912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AAA4BF"/>
                </a:solidFill>
              </a:defRPr>
            </a:pPr>
            <a:r>
              <a:rPr sz="900" b="0">
                <a:solidFill>
                  <a:srgbClr val="AAA4BF"/>
                </a:solidFill>
              </a:rPr>
              <a:t>REAL RUNNER + REAL APP SCREEN · DEMO DATA</a:t>
            </a:r>
          </a:p>
        </p:txBody>
      </p:sp>
    </p:spTree>
    <p:extLst>
      <p:ext uri="{BB962C8B-B14F-4D97-AF65-F5344CB8AC3E}">
        <p14:creationId xmlns:p14="http://schemas.microsoft.com/office/powerpoint/2010/main" val="2139991488"/>
      </p:ext>
    </p:extLst>
  </p:cSld>
</p:sld>
</file>

<file path=ppt/slides/slide3.xml><?xml version="1.0" encoding="utf-8"?>
<p:sld xmlns:p="http://schemas.openxmlformats.org/presentationml/2006/main">
  <p:cSld>
    <p:bg>
      <p:bgPr>
        <a:solidFill xmlns:a="http://schemas.openxmlformats.org/drawingml/2006/main">
          <a:srgbClr val="F8F7FD"/>
        </a:solidFill>
      </p:bgPr>
    </p:bg>
    <p:spTree>
      <p:nvGrpSpPr>
        <p:cNvPr id="1" name=""/>
        <p:cNvGrpSpPr/>
        <p:nvPr/>
      </p:nvGrpSpPr>
      <p:grpSpPr>
        <a:xfrm xmlns:a="http://schemas.openxmlformats.org/drawingml/2006/main"/>
      </p:grpSpPr>
      <p:sp>
        <p:nvSpPr>
          <p:cNvPr id="23" name="lavender-wash">
            <a:extLst xmlns:a="http://schemas.openxmlformats.org/drawingml/2006/main">
              <a:ext uri="{FF2B5EF4-FFF2-40B4-BE49-F238E27FC236}">
                <a16:creationId xmlns:a16="http://schemas.microsoft.com/office/drawing/2014/main" id="{2368D9A7-6F61-4D98-A51A-66D8ACFF266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F8F7FD"/>
              </a:gs>
              <a:gs pos="67000">
                <a:srgbClr val="F8F7FD"/>
              </a:gs>
              <a:gs pos="100000">
                <a:srgbClr val="ECE8FF"/>
              </a:gs>
            </a:gsLst>
            <a:lin ang="5400000"/>
          </a:gra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B6B7FA02-847F-432E-A7E5-027EDE863DDD}"/>
              </a:ext>
            </a:extLst>
          </p:cNvPr>
          <p:cNvSpPr>
            <a:spLocks xmlns:a="http://schemas.openxmlformats.org/drawingml/2006/main" noGrp="1"/>
          </p:cNvSpPr>
          <p:nvPr/>
        </p:nvSpPr>
        <p:spPr>
          <a:xfrm xmlns:a="http://schemas.openxmlformats.org/drawingml/2006/main">
            <a:off x="685800" y="428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6C55E8"/>
                </a:solidFill>
              </a:defRPr>
            </a:pPr>
            <a:r>
              <a:rPr sz="1275" b="1">
                <a:solidFill>
                  <a:srgbClr val="6C55E8"/>
                </a:solidFill>
              </a:rPr>
              <a:t>WHO IT’S FOR</a:t>
            </a:r>
          </a:p>
        </p:txBody>
      </p:sp>
      <p:sp>
        <p:nvSpPr>
          <p:cNvPr id="3" name="title">
            <a:extLst xmlns:a="http://schemas.openxmlformats.org/drawingml/2006/main">
              <a:ext uri="{FF2B5EF4-FFF2-40B4-BE49-F238E27FC236}">
                <a16:creationId xmlns:a16="http://schemas.microsoft.com/office/drawing/2014/main" id="{55A8315A-5356-4EFD-91BD-3FEE49F7F196}"/>
              </a:ext>
            </a:extLst>
          </p:cNvPr>
          <p:cNvSpPr>
            <a:spLocks xmlns:a="http://schemas.openxmlformats.org/drawingml/2006/main" noGrp="1"/>
          </p:cNvSpPr>
          <p:nvPr/>
        </p:nvSpPr>
        <p:spPr>
          <a:xfrm xmlns:a="http://schemas.openxmlformats.org/drawingml/2006/main">
            <a:off x="685800" y="742950"/>
            <a:ext cx="9239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750" b="1">
                <a:solidFill>
                  <a:srgbClr val="0D0A17"/>
                </a:solidFill>
              </a:defRPr>
            </a:pPr>
            <a:r>
              <a:rPr sz="3750" b="1">
                <a:solidFill>
                  <a:srgbClr val="0D0A17"/>
                </a:solidFill>
              </a:rPr>
              <a:t>One platform, three markets</a:t>
            </a:r>
          </a:p>
        </p:txBody>
      </p:sp>
      <p:sp>
        <p:nvSpPr>
          <p:cNvPr id="4" name="market-card-1">
            <a:extLst xmlns:a="http://schemas.openxmlformats.org/drawingml/2006/main">
              <a:ext uri="{FF2B5EF4-FFF2-40B4-BE49-F238E27FC236}">
                <a16:creationId xmlns:a16="http://schemas.microsoft.com/office/drawing/2014/main" id="{C1350546-410E-4E30-BABB-9B5D36555C6F}"/>
              </a:ext>
            </a:extLst>
          </p:cNvPr>
          <p:cNvSpPr>
            <a:spLocks xmlns:a="http://schemas.openxmlformats.org/drawingml/2006/main" noGrp="1"/>
          </p:cNvSpPr>
          <p:nvPr/>
        </p:nvSpPr>
        <p:spPr>
          <a:xfrm xmlns:a="http://schemas.openxmlformats.org/drawingml/2006/main">
            <a:off x="685800" y="1762125"/>
            <a:ext cx="3286125" cy="3905250"/>
          </a:xfrm>
          <a:prstGeom xmlns:a="http://schemas.openxmlformats.org/drawingml/2006/main" prst="roundRect">
            <a:avLst>
              <a:gd name="adj" fmla="val 7536"/>
            </a:avLst>
          </a:prstGeom>
          <a:solidFill xmlns:a="http://schemas.openxmlformats.org/drawingml/2006/main">
            <a:srgbClr val="FFFFFF"/>
          </a:solidFill>
          <a:ln xmlns:a="http://schemas.openxmlformats.org/drawingml/2006/main" w="9525">
            <a:solidFill>
              <a:srgbClr val="DDD9EC"/>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5" name="market-icon-1">
            <a:extLst xmlns:a="http://schemas.openxmlformats.org/drawingml/2006/main">
              <a:ext uri="{FF2B5EF4-FFF2-40B4-BE49-F238E27FC236}">
                <a16:creationId xmlns:a16="http://schemas.microsoft.com/office/drawing/2014/main" id="{6C99E563-9EEC-4771-BE66-CC95FEC8B5C7}"/>
              </a:ext>
            </a:extLst>
          </p:cNvPr>
          <p:cNvSpPr>
            <a:spLocks xmlns:a="http://schemas.openxmlformats.org/drawingml/2006/main" noGrp="1"/>
          </p:cNvSpPr>
          <p:nvPr/>
        </p:nvSpPr>
        <p:spPr>
          <a:xfrm xmlns:a="http://schemas.openxmlformats.org/drawingml/2006/main">
            <a:off x="990600" y="2047875"/>
            <a:ext cx="666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0">
                <a:solidFill>
                  <a:srgbClr val="0D0A17"/>
                </a:solidFill>
              </a:defRPr>
            </a:pPr>
            <a:r>
              <a:rPr sz="3000" b="0">
                <a:solidFill>
                  <a:srgbClr val="0D0A17"/>
                </a:solidFill>
              </a:rPr>
              <a:t>🏃</a:t>
            </a:r>
          </a:p>
        </p:txBody>
      </p:sp>
      <p:sp>
        <p:nvSpPr>
          <p:cNvPr id="6" name="market-title-1">
            <a:extLst xmlns:a="http://schemas.openxmlformats.org/drawingml/2006/main">
              <a:ext uri="{FF2B5EF4-FFF2-40B4-BE49-F238E27FC236}">
                <a16:creationId xmlns:a16="http://schemas.microsoft.com/office/drawing/2014/main" id="{35E2E31B-CBF5-4A46-8D71-D24A22C75F8E}"/>
              </a:ext>
            </a:extLst>
          </p:cNvPr>
          <p:cNvSpPr>
            <a:spLocks xmlns:a="http://schemas.openxmlformats.org/drawingml/2006/main" noGrp="1"/>
          </p:cNvSpPr>
          <p:nvPr/>
        </p:nvSpPr>
        <p:spPr>
          <a:xfrm xmlns:a="http://schemas.openxmlformats.org/drawingml/2006/main">
            <a:off x="990600" y="2714625"/>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75" b="1">
                <a:solidFill>
                  <a:srgbClr val="0D0A17"/>
                </a:solidFill>
              </a:defRPr>
            </a:pPr>
            <a:r>
              <a:rPr sz="2175" b="1">
                <a:solidFill>
                  <a:srgbClr val="0D0A17"/>
                </a:solidFill>
              </a:rPr>
              <a:t>You</a:t>
            </a:r>
          </a:p>
        </p:txBody>
      </p:sp>
      <p:sp>
        <p:nvSpPr>
          <p:cNvPr id="7" name="market-body-1">
            <a:extLst xmlns:a="http://schemas.openxmlformats.org/drawingml/2006/main">
              <a:ext uri="{FF2B5EF4-FFF2-40B4-BE49-F238E27FC236}">
                <a16:creationId xmlns:a16="http://schemas.microsoft.com/office/drawing/2014/main" id="{3033E229-9CE0-45EC-8298-19CEDB902D9D}"/>
              </a:ext>
            </a:extLst>
          </p:cNvPr>
          <p:cNvSpPr>
            <a:spLocks xmlns:a="http://schemas.openxmlformats.org/drawingml/2006/main" noGrp="1"/>
          </p:cNvSpPr>
          <p:nvPr/>
        </p:nvSpPr>
        <p:spPr>
          <a:xfrm xmlns:a="http://schemas.openxmlformats.org/drawingml/2006/main">
            <a:off x="990600" y="3286125"/>
            <a:ext cx="26670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666474"/>
                </a:solidFill>
              </a:defRPr>
            </a:pPr>
            <a:r>
              <a:rPr sz="1650" b="1">
                <a:solidFill>
                  <a:srgbClr val="666474"/>
                </a:solidFill>
              </a:rPr>
              <a:t>Train body + brain</a:t>
            </a:r>
          </a:p>
          <a:p xmlns:a="http://schemas.openxmlformats.org/drawingml/2006/main">
            <a:pPr algn="l">
              <a:defRPr sz="1650" b="1">
                <a:solidFill>
                  <a:srgbClr val="666474"/>
                </a:solidFill>
              </a:defRPr>
            </a:pPr>
            <a:r>
              <a:rPr sz="1650" b="1">
                <a:solidFill>
                  <a:srgbClr val="666474"/>
                </a:solidFill>
              </a:rPr>
              <a:t>under real pressure:</a:t>
            </a:r>
          </a:p>
          <a:p xmlns:a="http://schemas.openxmlformats.org/drawingml/2006/main">
            <a:pPr algn="l">
              <a:defRPr sz="1650" b="1">
                <a:solidFill>
                  <a:srgbClr val="666474"/>
                </a:solidFill>
              </a:defRPr>
            </a:pPr>
            <a:r>
              <a:rPr sz="1650" b="1">
                <a:solidFill>
                  <a:srgbClr val="666474"/>
                </a:solidFill>
              </a:rPr>
              <a:t>interviews, driving</a:t>
            </a:r>
          </a:p>
          <a:p xmlns:a="http://schemas.openxmlformats.org/drawingml/2006/main">
            <a:pPr algn="l">
              <a:defRPr sz="1650" b="1">
                <a:solidFill>
                  <a:srgbClr val="666474"/>
                </a:solidFill>
              </a:defRPr>
            </a:pPr>
            <a:r>
              <a:rPr sz="1650" b="1">
                <a:solidFill>
                  <a:srgbClr val="666474"/>
                </a:solidFill>
              </a:rPr>
              <a:t>theory, memory.</a:t>
            </a:r>
          </a:p>
        </p:txBody>
      </p:sp>
      <p:sp>
        <p:nvSpPr>
          <p:cNvPr id="8" name="market-rule-1">
            <a:extLst xmlns:a="http://schemas.openxmlformats.org/drawingml/2006/main">
              <a:ext uri="{FF2B5EF4-FFF2-40B4-BE49-F238E27FC236}">
                <a16:creationId xmlns:a16="http://schemas.microsoft.com/office/drawing/2014/main" id="{360A0C9B-851A-4988-B55C-691AE7E5D6F5}"/>
              </a:ext>
            </a:extLst>
          </p:cNvPr>
          <p:cNvSpPr>
            <a:spLocks xmlns:a="http://schemas.openxmlformats.org/drawingml/2006/main" noGrp="1"/>
          </p:cNvSpPr>
          <p:nvPr/>
        </p:nvSpPr>
        <p:spPr>
          <a:xfrm xmlns:a="http://schemas.openxmlformats.org/drawingml/2006/main">
            <a:off x="990600" y="4953000"/>
            <a:ext cx="857250" cy="38100"/>
          </a:xfrm>
          <a:prstGeom xmlns:a="http://schemas.openxmlformats.org/drawingml/2006/main" prst="rect">
            <a:avLst/>
          </a:prstGeom>
          <a:solidFill xmlns:a="http://schemas.openxmlformats.org/drawingml/2006/main">
            <a:srgbClr val="6C55E8"/>
          </a:solidFill>
          <a:ln xmlns:a="http://schemas.openxmlformats.org/drawingml/2006/main" w="0">
            <a:noFill/>
            <a:prstDash val="solid"/>
          </a:ln>
        </p:spPr>
      </p:sp>
      <p:sp>
        <p:nvSpPr>
          <p:cNvPr id="9" name="market-close-1">
            <a:extLst xmlns:a="http://schemas.openxmlformats.org/drawingml/2006/main">
              <a:ext uri="{FF2B5EF4-FFF2-40B4-BE49-F238E27FC236}">
                <a16:creationId xmlns:a16="http://schemas.microsoft.com/office/drawing/2014/main" id="{A3F58A34-5B98-47C8-A92A-DE0D41B1FD94}"/>
              </a:ext>
            </a:extLst>
          </p:cNvPr>
          <p:cNvSpPr>
            <a:spLocks xmlns:a="http://schemas.openxmlformats.org/drawingml/2006/main" noGrp="1"/>
          </p:cNvSpPr>
          <p:nvPr/>
        </p:nvSpPr>
        <p:spPr>
          <a:xfrm xmlns:a="http://schemas.openxmlformats.org/drawingml/2006/main">
            <a:off x="990600" y="5095875"/>
            <a:ext cx="266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6C55E8"/>
                </a:solidFill>
              </a:defRPr>
            </a:pPr>
            <a:r>
              <a:rPr sz="1275" b="1">
                <a:solidFill>
                  <a:srgbClr val="6C55E8"/>
                </a:solidFill>
              </a:rPr>
              <a:t>Personal packs + subscription</a:t>
            </a:r>
          </a:p>
        </p:txBody>
      </p:sp>
      <p:sp>
        <p:nvSpPr>
          <p:cNvPr id="10" name="market-card-2">
            <a:extLst xmlns:a="http://schemas.openxmlformats.org/drawingml/2006/main">
              <a:ext uri="{FF2B5EF4-FFF2-40B4-BE49-F238E27FC236}">
                <a16:creationId xmlns:a16="http://schemas.microsoft.com/office/drawing/2014/main" id="{2A08E3DC-CC8B-4E7C-84A9-098E85771F37}"/>
              </a:ext>
            </a:extLst>
          </p:cNvPr>
          <p:cNvSpPr>
            <a:spLocks xmlns:a="http://schemas.openxmlformats.org/drawingml/2006/main" noGrp="1"/>
          </p:cNvSpPr>
          <p:nvPr/>
        </p:nvSpPr>
        <p:spPr>
          <a:xfrm xmlns:a="http://schemas.openxmlformats.org/drawingml/2006/main">
            <a:off x="4352925" y="1762125"/>
            <a:ext cx="3286125" cy="3905250"/>
          </a:xfrm>
          <a:prstGeom xmlns:a="http://schemas.openxmlformats.org/drawingml/2006/main" prst="roundRect">
            <a:avLst>
              <a:gd name="adj" fmla="val 7536"/>
            </a:avLst>
          </a:prstGeom>
          <a:solidFill xmlns:a="http://schemas.openxmlformats.org/drawingml/2006/main">
            <a:srgbClr val="FFFFFF"/>
          </a:solidFill>
          <a:ln xmlns:a="http://schemas.openxmlformats.org/drawingml/2006/main" w="9525">
            <a:solidFill>
              <a:srgbClr val="DDD9EC"/>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1" name="market-icon-2">
            <a:extLst xmlns:a="http://schemas.openxmlformats.org/drawingml/2006/main">
              <a:ext uri="{FF2B5EF4-FFF2-40B4-BE49-F238E27FC236}">
                <a16:creationId xmlns:a16="http://schemas.microsoft.com/office/drawing/2014/main" id="{9EE0678B-3971-4833-81EB-A1EA2FB28627}"/>
              </a:ext>
            </a:extLst>
          </p:cNvPr>
          <p:cNvSpPr>
            <a:spLocks xmlns:a="http://schemas.openxmlformats.org/drawingml/2006/main" noGrp="1"/>
          </p:cNvSpPr>
          <p:nvPr/>
        </p:nvSpPr>
        <p:spPr>
          <a:xfrm xmlns:a="http://schemas.openxmlformats.org/drawingml/2006/main">
            <a:off x="4657725" y="2047875"/>
            <a:ext cx="666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0">
                <a:solidFill>
                  <a:srgbClr val="0D0A17"/>
                </a:solidFill>
              </a:defRPr>
            </a:pPr>
            <a:r>
              <a:rPr sz="3000" b="0">
                <a:solidFill>
                  <a:srgbClr val="0D0A17"/>
                </a:solidFill>
              </a:rPr>
              <a:t>🔬</a:t>
            </a:r>
          </a:p>
        </p:txBody>
      </p:sp>
      <p:sp>
        <p:nvSpPr>
          <p:cNvPr id="12" name="market-title-2">
            <a:extLst xmlns:a="http://schemas.openxmlformats.org/drawingml/2006/main">
              <a:ext uri="{FF2B5EF4-FFF2-40B4-BE49-F238E27FC236}">
                <a16:creationId xmlns:a16="http://schemas.microsoft.com/office/drawing/2014/main" id="{E0392D45-010B-45D6-A114-AA5F7E3F8F1B}"/>
              </a:ext>
            </a:extLst>
          </p:cNvPr>
          <p:cNvSpPr>
            <a:spLocks xmlns:a="http://schemas.openxmlformats.org/drawingml/2006/main" noGrp="1"/>
          </p:cNvSpPr>
          <p:nvPr/>
        </p:nvSpPr>
        <p:spPr>
          <a:xfrm xmlns:a="http://schemas.openxmlformats.org/drawingml/2006/main">
            <a:off x="4657725" y="2714625"/>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75" b="1">
                <a:solidFill>
                  <a:srgbClr val="0D0A17"/>
                </a:solidFill>
              </a:defRPr>
            </a:pPr>
            <a:r>
              <a:rPr sz="2175" b="1">
                <a:solidFill>
                  <a:srgbClr val="0D0A17"/>
                </a:solidFill>
              </a:rPr>
              <a:t>Scientists</a:t>
            </a:r>
          </a:p>
        </p:txBody>
      </p:sp>
      <p:sp>
        <p:nvSpPr>
          <p:cNvPr id="13" name="market-body-2">
            <a:extLst xmlns:a="http://schemas.openxmlformats.org/drawingml/2006/main">
              <a:ext uri="{FF2B5EF4-FFF2-40B4-BE49-F238E27FC236}">
                <a16:creationId xmlns:a16="http://schemas.microsoft.com/office/drawing/2014/main" id="{6DE005E6-C9E0-42AB-9E09-AEAF75651E32}"/>
              </a:ext>
            </a:extLst>
          </p:cNvPr>
          <p:cNvSpPr>
            <a:spLocks xmlns:a="http://schemas.openxmlformats.org/drawingml/2006/main" noGrp="1"/>
          </p:cNvSpPr>
          <p:nvPr/>
        </p:nvSpPr>
        <p:spPr>
          <a:xfrm xmlns:a="http://schemas.openxmlformats.org/drawingml/2006/main">
            <a:off x="4657725" y="3286125"/>
            <a:ext cx="26670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666474"/>
                </a:solidFill>
              </a:defRPr>
            </a:pPr>
            <a:r>
              <a:rPr sz="1650" b="1">
                <a:solidFill>
                  <a:srgbClr val="666474"/>
                </a:solidFill>
              </a:rPr>
              <a:t>Cognition-under-</a:t>
            </a:r>
          </a:p>
          <a:p xmlns:a="http://schemas.openxmlformats.org/drawingml/2006/main">
            <a:pPr algn="l">
              <a:defRPr sz="1650" b="1">
                <a:solidFill>
                  <a:srgbClr val="666474"/>
                </a:solidFill>
              </a:defRPr>
            </a:pPr>
            <a:r>
              <a:rPr sz="1650" b="1">
                <a:solidFill>
                  <a:srgbClr val="666474"/>
                </a:solidFill>
              </a:rPr>
              <a:t>exertion studies at</a:t>
            </a:r>
          </a:p>
          <a:p xmlns:a="http://schemas.openxmlformats.org/drawingml/2006/main">
            <a:pPr algn="l">
              <a:defRPr sz="1650" b="1">
                <a:solidFill>
                  <a:srgbClr val="666474"/>
                </a:solidFill>
              </a:defRPr>
            </a:pPr>
            <a:r>
              <a:rPr sz="1650" b="1">
                <a:solidFill>
                  <a:srgbClr val="666474"/>
                </a:solidFill>
              </a:rPr>
              <a:t>scale. Enrollment =</a:t>
            </a:r>
          </a:p>
          <a:p xmlns:a="http://schemas.openxmlformats.org/drawingml/2006/main">
            <a:pPr algn="l">
              <a:defRPr sz="1650" b="1">
                <a:solidFill>
                  <a:srgbClr val="666474"/>
                </a:solidFill>
              </a:defRPr>
            </a:pPr>
            <a:r>
              <a:rPr sz="1650" b="1">
                <a:solidFill>
                  <a:srgbClr val="666474"/>
                </a:solidFill>
              </a:rPr>
              <a:t>joining a challenge.</a:t>
            </a:r>
          </a:p>
        </p:txBody>
      </p:sp>
      <p:sp>
        <p:nvSpPr>
          <p:cNvPr id="14" name="market-rule-2">
            <a:extLst xmlns:a="http://schemas.openxmlformats.org/drawingml/2006/main">
              <a:ext uri="{FF2B5EF4-FFF2-40B4-BE49-F238E27FC236}">
                <a16:creationId xmlns:a16="http://schemas.microsoft.com/office/drawing/2014/main" id="{A23EBDAC-C323-4639-ACED-681EC5ACDC55}"/>
              </a:ext>
            </a:extLst>
          </p:cNvPr>
          <p:cNvSpPr>
            <a:spLocks xmlns:a="http://schemas.openxmlformats.org/drawingml/2006/main" noGrp="1"/>
          </p:cNvSpPr>
          <p:nvPr/>
        </p:nvSpPr>
        <p:spPr>
          <a:xfrm xmlns:a="http://schemas.openxmlformats.org/drawingml/2006/main">
            <a:off x="4657725" y="4953000"/>
            <a:ext cx="857250" cy="38100"/>
          </a:xfrm>
          <a:prstGeom xmlns:a="http://schemas.openxmlformats.org/drawingml/2006/main" prst="rect">
            <a:avLst/>
          </a:prstGeom>
          <a:solidFill xmlns:a="http://schemas.openxmlformats.org/drawingml/2006/main">
            <a:srgbClr val="6C55E8"/>
          </a:solidFill>
          <a:ln xmlns:a="http://schemas.openxmlformats.org/drawingml/2006/main" w="0">
            <a:noFill/>
            <a:prstDash val="solid"/>
          </a:ln>
        </p:spPr>
      </p:sp>
      <p:sp>
        <p:nvSpPr>
          <p:cNvPr id="15" name="market-close-2">
            <a:extLst xmlns:a="http://schemas.openxmlformats.org/drawingml/2006/main">
              <a:ext uri="{FF2B5EF4-FFF2-40B4-BE49-F238E27FC236}">
                <a16:creationId xmlns:a16="http://schemas.microsoft.com/office/drawing/2014/main" id="{864000FF-4C5B-4852-B1A4-7849D49A1CE1}"/>
              </a:ext>
            </a:extLst>
          </p:cNvPr>
          <p:cNvSpPr>
            <a:spLocks xmlns:a="http://schemas.openxmlformats.org/drawingml/2006/main" noGrp="1"/>
          </p:cNvSpPr>
          <p:nvPr/>
        </p:nvSpPr>
        <p:spPr>
          <a:xfrm xmlns:a="http://schemas.openxmlformats.org/drawingml/2006/main">
            <a:off x="4657725" y="5095875"/>
            <a:ext cx="266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6C55E8"/>
                </a:solidFill>
              </a:defRPr>
            </a:pPr>
            <a:r>
              <a:rPr sz="1275" b="1">
                <a:solidFill>
                  <a:srgbClr val="6C55E8"/>
                </a:solidFill>
              </a:rPr>
              <a:t>Protocol + participant fees</a:t>
            </a:r>
          </a:p>
        </p:txBody>
      </p:sp>
      <p:sp>
        <p:nvSpPr>
          <p:cNvPr id="16" name="market-card-3">
            <a:extLst xmlns:a="http://schemas.openxmlformats.org/drawingml/2006/main">
              <a:ext uri="{FF2B5EF4-FFF2-40B4-BE49-F238E27FC236}">
                <a16:creationId xmlns:a16="http://schemas.microsoft.com/office/drawing/2014/main" id="{8E39203F-4BA2-44C3-AEBB-B16457C6AAA5}"/>
              </a:ext>
            </a:extLst>
          </p:cNvPr>
          <p:cNvSpPr>
            <a:spLocks xmlns:a="http://schemas.openxmlformats.org/drawingml/2006/main" noGrp="1"/>
          </p:cNvSpPr>
          <p:nvPr/>
        </p:nvSpPr>
        <p:spPr>
          <a:xfrm xmlns:a="http://schemas.openxmlformats.org/drawingml/2006/main">
            <a:off x="8020050" y="1762125"/>
            <a:ext cx="3286125" cy="3905250"/>
          </a:xfrm>
          <a:prstGeom xmlns:a="http://schemas.openxmlformats.org/drawingml/2006/main" prst="roundRect">
            <a:avLst>
              <a:gd name="adj" fmla="val 7536"/>
            </a:avLst>
          </a:prstGeom>
          <a:solidFill xmlns:a="http://schemas.openxmlformats.org/drawingml/2006/main">
            <a:srgbClr val="FFFFFF"/>
          </a:solidFill>
          <a:ln xmlns:a="http://schemas.openxmlformats.org/drawingml/2006/main" w="9525">
            <a:solidFill>
              <a:srgbClr val="DDD9EC"/>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7" name="market-icon-3">
            <a:extLst xmlns:a="http://schemas.openxmlformats.org/drawingml/2006/main">
              <a:ext uri="{FF2B5EF4-FFF2-40B4-BE49-F238E27FC236}">
                <a16:creationId xmlns:a16="http://schemas.microsoft.com/office/drawing/2014/main" id="{2C5FA3C9-8044-42C0-BF39-6937AAD71E5B}"/>
              </a:ext>
            </a:extLst>
          </p:cNvPr>
          <p:cNvSpPr>
            <a:spLocks xmlns:a="http://schemas.openxmlformats.org/drawingml/2006/main" noGrp="1"/>
          </p:cNvSpPr>
          <p:nvPr/>
        </p:nvSpPr>
        <p:spPr>
          <a:xfrm xmlns:a="http://schemas.openxmlformats.org/drawingml/2006/main">
            <a:off x="8324850" y="2047875"/>
            <a:ext cx="666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0">
                <a:solidFill>
                  <a:srgbClr val="0D0A17"/>
                </a:solidFill>
              </a:defRPr>
            </a:pPr>
            <a:r>
              <a:rPr sz="3000" b="0">
                <a:solidFill>
                  <a:srgbClr val="0D0A17"/>
                </a:solidFill>
              </a:rPr>
              <a:t>💼</a:t>
            </a:r>
          </a:p>
        </p:txBody>
      </p:sp>
      <p:sp>
        <p:nvSpPr>
          <p:cNvPr id="18" name="market-title-3">
            <a:extLst xmlns:a="http://schemas.openxmlformats.org/drawingml/2006/main">
              <a:ext uri="{FF2B5EF4-FFF2-40B4-BE49-F238E27FC236}">
                <a16:creationId xmlns:a16="http://schemas.microsoft.com/office/drawing/2014/main" id="{ECA9F99A-0503-4EB0-9B91-3387F8F37CA0}"/>
              </a:ext>
            </a:extLst>
          </p:cNvPr>
          <p:cNvSpPr>
            <a:spLocks xmlns:a="http://schemas.openxmlformats.org/drawingml/2006/main" noGrp="1"/>
          </p:cNvSpPr>
          <p:nvPr/>
        </p:nvSpPr>
        <p:spPr>
          <a:xfrm xmlns:a="http://schemas.openxmlformats.org/drawingml/2006/main">
            <a:off x="8324850" y="2714625"/>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75" b="1">
                <a:solidFill>
                  <a:srgbClr val="0D0A17"/>
                </a:solidFill>
              </a:defRPr>
            </a:pPr>
            <a:r>
              <a:rPr sz="2175" b="1">
                <a:solidFill>
                  <a:srgbClr val="0D0A17"/>
                </a:solidFill>
              </a:rPr>
              <a:t>Business</a:t>
            </a:r>
          </a:p>
        </p:txBody>
      </p:sp>
      <p:sp>
        <p:nvSpPr>
          <p:cNvPr id="19" name="market-body-3">
            <a:extLst xmlns:a="http://schemas.openxmlformats.org/drawingml/2006/main">
              <a:ext uri="{FF2B5EF4-FFF2-40B4-BE49-F238E27FC236}">
                <a16:creationId xmlns:a16="http://schemas.microsoft.com/office/drawing/2014/main" id="{88FD86A6-F240-4594-BF2A-C25B79C4DE16}"/>
              </a:ext>
            </a:extLst>
          </p:cNvPr>
          <p:cNvSpPr>
            <a:spLocks xmlns:a="http://schemas.openxmlformats.org/drawingml/2006/main" noGrp="1"/>
          </p:cNvSpPr>
          <p:nvPr/>
        </p:nvSpPr>
        <p:spPr>
          <a:xfrm xmlns:a="http://schemas.openxmlformats.org/drawingml/2006/main">
            <a:off x="8324850" y="3286125"/>
            <a:ext cx="26670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666474"/>
                </a:solidFill>
              </a:defRPr>
            </a:pPr>
            <a:r>
              <a:rPr sz="1650" b="1">
                <a:solidFill>
                  <a:srgbClr val="666474"/>
                </a:solidFill>
              </a:rPr>
              <a:t>Sponsored question</a:t>
            </a:r>
          </a:p>
          <a:p xmlns:a="http://schemas.openxmlformats.org/drawingml/2006/main">
            <a:pPr algn="l">
              <a:defRPr sz="1650" b="1">
                <a:solidFill>
                  <a:srgbClr val="666474"/>
                </a:solidFill>
              </a:defRPr>
            </a:pPr>
            <a:r>
              <a:rPr sz="1650" b="1">
                <a:solidFill>
                  <a:srgbClr val="666474"/>
                </a:solidFill>
              </a:rPr>
              <a:t>packs reach an</a:t>
            </a:r>
          </a:p>
          <a:p xmlns:a="http://schemas.openxmlformats.org/drawingml/2006/main">
            <a:pPr algn="l">
              <a:defRPr sz="1650" b="1">
                <a:solidFill>
                  <a:srgbClr val="666474"/>
                </a:solidFill>
              </a:defRPr>
            </a:pPr>
            <a:r>
              <a:rPr sz="1650" b="1">
                <a:solidFill>
                  <a:srgbClr val="666474"/>
                </a:solidFill>
              </a:rPr>
              <a:t>engaged audience</a:t>
            </a:r>
          </a:p>
          <a:p xmlns:a="http://schemas.openxmlformats.org/drawingml/2006/main">
            <a:pPr algn="l">
              <a:defRPr sz="1650" b="1">
                <a:solidFill>
                  <a:srgbClr val="666474"/>
                </a:solidFill>
              </a:defRPr>
            </a:pPr>
            <a:r>
              <a:rPr sz="1650" b="1">
                <a:solidFill>
                  <a:srgbClr val="666474"/>
                </a:solidFill>
              </a:rPr>
              <a:t>mid-run.</a:t>
            </a:r>
          </a:p>
        </p:txBody>
      </p:sp>
      <p:sp>
        <p:nvSpPr>
          <p:cNvPr id="20" name="market-rule-3">
            <a:extLst xmlns:a="http://schemas.openxmlformats.org/drawingml/2006/main">
              <a:ext uri="{FF2B5EF4-FFF2-40B4-BE49-F238E27FC236}">
                <a16:creationId xmlns:a16="http://schemas.microsoft.com/office/drawing/2014/main" id="{B4D1B4B8-4E42-40DC-B412-417D6EE1EE7B}"/>
              </a:ext>
            </a:extLst>
          </p:cNvPr>
          <p:cNvSpPr>
            <a:spLocks xmlns:a="http://schemas.openxmlformats.org/drawingml/2006/main" noGrp="1"/>
          </p:cNvSpPr>
          <p:nvPr/>
        </p:nvSpPr>
        <p:spPr>
          <a:xfrm xmlns:a="http://schemas.openxmlformats.org/drawingml/2006/main">
            <a:off x="8324850" y="4953000"/>
            <a:ext cx="857250" cy="38100"/>
          </a:xfrm>
          <a:prstGeom xmlns:a="http://schemas.openxmlformats.org/drawingml/2006/main" prst="rect">
            <a:avLst/>
          </a:prstGeom>
          <a:solidFill xmlns:a="http://schemas.openxmlformats.org/drawingml/2006/main">
            <a:srgbClr val="6C55E8"/>
          </a:solidFill>
          <a:ln xmlns:a="http://schemas.openxmlformats.org/drawingml/2006/main" w="0">
            <a:noFill/>
            <a:prstDash val="solid"/>
          </a:ln>
        </p:spPr>
      </p:sp>
      <p:sp>
        <p:nvSpPr>
          <p:cNvPr id="21" name="market-close-3">
            <a:extLst xmlns:a="http://schemas.openxmlformats.org/drawingml/2006/main">
              <a:ext uri="{FF2B5EF4-FFF2-40B4-BE49-F238E27FC236}">
                <a16:creationId xmlns:a16="http://schemas.microsoft.com/office/drawing/2014/main" id="{4C233AD9-229E-4AD2-B5CC-90B6FA9130C4}"/>
              </a:ext>
            </a:extLst>
          </p:cNvPr>
          <p:cNvSpPr>
            <a:spLocks xmlns:a="http://schemas.openxmlformats.org/drawingml/2006/main" noGrp="1"/>
          </p:cNvSpPr>
          <p:nvPr/>
        </p:nvSpPr>
        <p:spPr>
          <a:xfrm xmlns:a="http://schemas.openxmlformats.org/drawingml/2006/main">
            <a:off x="8324850" y="5095875"/>
            <a:ext cx="266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6C55E8"/>
                </a:solidFill>
              </a:defRPr>
            </a:pPr>
            <a:r>
              <a:rPr sz="1275" b="1">
                <a:solidFill>
                  <a:srgbClr val="6C55E8"/>
                </a:solidFill>
              </a:rPr>
              <a:t>Sponsored packs + prizes</a:t>
            </a:r>
          </a:p>
        </p:txBody>
      </p:sp>
      <p:sp>
        <p:nvSpPr>
          <p:cNvPr id="22" name="market-footer">
            <a:extLst xmlns:a="http://schemas.openxmlformats.org/drawingml/2006/main">
              <a:ext uri="{FF2B5EF4-FFF2-40B4-BE49-F238E27FC236}">
                <a16:creationId xmlns:a16="http://schemas.microsoft.com/office/drawing/2014/main" id="{A429A6D1-5B4B-41C6-80F2-E4A8C02DF0A1}"/>
              </a:ext>
            </a:extLst>
          </p:cNvPr>
          <p:cNvSpPr>
            <a:spLocks xmlns:a="http://schemas.openxmlformats.org/drawingml/2006/main" noGrp="1"/>
          </p:cNvSpPr>
          <p:nvPr/>
        </p:nvSpPr>
        <p:spPr>
          <a:xfrm xmlns:a="http://schemas.openxmlformats.org/drawingml/2006/main">
            <a:off x="685800" y="6096000"/>
            <a:ext cx="10810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6C55E8"/>
                </a:solidFill>
              </a:defRPr>
            </a:pPr>
            <a:r>
              <a:rPr sz="1725" b="1">
                <a:solidFill>
                  <a:srgbClr val="6C55E8"/>
                </a:solidFill>
              </a:rPr>
              <a:t>DISCOVER → REPEAT → CHALLENGE → FUND</a:t>
            </a:r>
          </a:p>
        </p:txBody>
      </p:sp>
    </p:spTree>
    <p:extLst>
      <p:ext uri="{BB962C8B-B14F-4D97-AF65-F5344CB8AC3E}">
        <p14:creationId xmlns:p14="http://schemas.microsoft.com/office/powerpoint/2010/main" val="1835688306"/>
      </p:ext>
    </p:extLst>
  </p:cSld>
</p:sld>
</file>

<file path=ppt/slides/slide4.xml><?xml version="1.0" encoding="utf-8"?>
<p:sld xmlns:p="http://schemas.openxmlformats.org/presentationml/2006/main">
  <p:cSld>
    <p:bg>
      <p:bgPr>
        <a:solidFill xmlns:a="http://schemas.openxmlformats.org/drawingml/2006/main">
          <a:srgbClr val="F8F7FD"/>
        </a:solidFill>
      </p:bgPr>
    </p:bg>
    <p:spTree>
      <p:nvGrpSpPr>
        <p:cNvPr id="1" name=""/>
        <p:cNvGrpSpPr/>
        <p:nvPr/>
      </p:nvGrpSpPr>
      <p:grpSpPr>
        <a:xfrm xmlns:a="http://schemas.openxmlformats.org/drawingml/2006/main"/>
      </p:grpSpPr>
      <p:sp>
        <p:nvSpPr>
          <p:cNvPr id="14" name="lavender-wash">
            <a:extLst xmlns:a="http://schemas.openxmlformats.org/drawingml/2006/main">
              <a:ext uri="{FF2B5EF4-FFF2-40B4-BE49-F238E27FC236}">
                <a16:creationId xmlns:a16="http://schemas.microsoft.com/office/drawing/2014/main" id="{E7377D45-2499-4802-AED0-4863CF2B6C2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F8F7FD"/>
              </a:gs>
              <a:gs pos="67000">
                <a:srgbClr val="F8F7FD"/>
              </a:gs>
              <a:gs pos="100000">
                <a:srgbClr val="ECE8FF"/>
              </a:gs>
            </a:gsLst>
            <a:lin ang="5400000"/>
          </a:gradFill>
          <a:ln xmlns:a="http://schemas.openxmlformats.org/drawingml/2006/main" w="0">
            <a:noFill/>
            <a:prstDash val="solid"/>
          </a:ln>
        </p:spPr>
      </p:sp>
      <p:sp>
        <p:nvSpPr>
          <p:cNvPr id="2" name="result-truth-label">
            <a:extLst xmlns:a="http://schemas.openxmlformats.org/drawingml/2006/main">
              <a:ext uri="{FF2B5EF4-FFF2-40B4-BE49-F238E27FC236}">
                <a16:creationId xmlns:a16="http://schemas.microsoft.com/office/drawing/2014/main" id="{E963A96D-44E2-4814-8983-C8D0D7395258}"/>
              </a:ext>
            </a:extLst>
          </p:cNvPr>
          <p:cNvSpPr>
            <a:spLocks xmlns:a="http://schemas.openxmlformats.org/drawingml/2006/main" noGrp="1"/>
          </p:cNvSpPr>
          <p:nvPr/>
        </p:nvSpPr>
        <p:spPr>
          <a:xfrm xmlns:a="http://schemas.openxmlformats.org/drawingml/2006/main">
            <a:off x="838200" y="4953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6C55E8"/>
                </a:solidFill>
              </a:defRPr>
            </a:pPr>
            <a:r>
              <a:rPr sz="975" b="1">
                <a:solidFill>
                  <a:srgbClr val="6C55E8"/>
                </a:solidFill>
              </a:rPr>
              <a:t>ILLUSTRATIVE PROTOTYPE RESULT</a:t>
            </a:r>
          </a:p>
        </p:txBody>
      </p:sp>
      <p:sp>
        <p:nvSpPr>
          <p:cNvPr id="3" name="result-frame">
            <a:extLst xmlns:a="http://schemas.openxmlformats.org/drawingml/2006/main">
              <a:ext uri="{FF2B5EF4-FFF2-40B4-BE49-F238E27FC236}">
                <a16:creationId xmlns:a16="http://schemas.microsoft.com/office/drawing/2014/main" id="{812F2B2B-3ABA-4529-96AD-A9AC604CCA33}"/>
              </a:ext>
            </a:extLst>
          </p:cNvPr>
          <p:cNvSpPr>
            <a:spLocks xmlns:a="http://schemas.openxmlformats.org/drawingml/2006/main" noGrp="1"/>
          </p:cNvSpPr>
          <p:nvPr/>
        </p:nvSpPr>
        <p:spPr>
          <a:xfrm xmlns:a="http://schemas.openxmlformats.org/drawingml/2006/main">
            <a:off x="666750" y="809625"/>
            <a:ext cx="3143250" cy="5334000"/>
          </a:xfrm>
          <a:prstGeom xmlns:a="http://schemas.openxmlformats.org/drawingml/2006/main" prst="roundRect">
            <a:avLst>
              <a:gd name="adj" fmla="val 8485"/>
            </a:avLst>
          </a:prstGeom>
          <a:solidFill xmlns:a="http://schemas.openxmlformats.org/drawingml/2006/main">
            <a:srgbClr val="FFFFFF"/>
          </a:solidFill>
          <a:ln xmlns:a="http://schemas.openxmlformats.org/drawingml/2006/main" w="9525">
            <a:solidFill>
              <a:srgbClr val="DDD9EC"/>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2d74c995ad444c8"/>
          <a:stretch xmlns:a="http://schemas.openxmlformats.org/drawingml/2006/main"/>
        </p:blipFill>
        <p:spPr>
          <a:xfrm xmlns:a="http://schemas.openxmlformats.org/drawingml/2006/main">
            <a:off x="914264" y="971550"/>
            <a:ext cx="2648222" cy="5010150"/>
          </a:xfrm>
          <a:prstGeom xmlns:a="http://schemas.openxmlformats.org/drawingml/2006/main" prst="roundRect">
            <a:avLst>
              <a:gd name="adj" fmla="val 7285"/>
            </a:avLst>
          </a:prstGeom>
        </p:spPr>
      </p:pic>
      <p:sp>
        <p:nvSpPr>
          <p:cNvPr id="5" name="eyebrow">
            <a:extLst xmlns:a="http://schemas.openxmlformats.org/drawingml/2006/main">
              <a:ext uri="{FF2B5EF4-FFF2-40B4-BE49-F238E27FC236}">
                <a16:creationId xmlns:a16="http://schemas.microsoft.com/office/drawing/2014/main" id="{3DF23FD5-A847-4186-B11D-2712CACF77EF}"/>
              </a:ext>
            </a:extLst>
          </p:cNvPr>
          <p:cNvSpPr>
            <a:spLocks xmlns:a="http://schemas.openxmlformats.org/drawingml/2006/main" noGrp="1"/>
          </p:cNvSpPr>
          <p:nvPr/>
        </p:nvSpPr>
        <p:spPr>
          <a:xfrm xmlns:a="http://schemas.openxmlformats.org/drawingml/2006/main">
            <a:off x="4381500" y="9525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6C55E8"/>
                </a:solidFill>
              </a:defRPr>
            </a:pPr>
            <a:r>
              <a:rPr sz="1275" b="1">
                <a:solidFill>
                  <a:srgbClr val="6C55E8"/>
                </a:solidFill>
              </a:rPr>
              <a:t>LIVE NOW</a:t>
            </a:r>
          </a:p>
        </p:txBody>
      </p:sp>
      <p:sp>
        <p:nvSpPr>
          <p:cNvPr id="6" name="title">
            <a:extLst xmlns:a="http://schemas.openxmlformats.org/drawingml/2006/main">
              <a:ext uri="{FF2B5EF4-FFF2-40B4-BE49-F238E27FC236}">
                <a16:creationId xmlns:a16="http://schemas.microsoft.com/office/drawing/2014/main" id="{46B8C4B0-78C3-4F91-B740-7A1800BF991E}"/>
              </a:ext>
            </a:extLst>
          </p:cNvPr>
          <p:cNvSpPr>
            <a:spLocks xmlns:a="http://schemas.openxmlformats.org/drawingml/2006/main" noGrp="1"/>
          </p:cNvSpPr>
          <p:nvPr/>
        </p:nvSpPr>
        <p:spPr>
          <a:xfrm xmlns:a="http://schemas.openxmlformats.org/drawingml/2006/main">
            <a:off x="4381500" y="1285875"/>
            <a:ext cx="666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750" b="1">
                <a:solidFill>
                  <a:srgbClr val="6C55E8"/>
                </a:solidFill>
              </a:defRPr>
            </a:pPr>
            <a:r>
              <a:rPr sz="3750" b="1">
                <a:solidFill>
                  <a:srgbClr val="6C55E8"/>
                </a:solidFill>
              </a:rPr>
              <a:t>Strava for your mind.</a:t>
            </a:r>
          </a:p>
        </p:txBody>
      </p:sp>
      <p:sp>
        <p:nvSpPr>
          <p:cNvPr id="7" name="closing-claim">
            <a:extLst xmlns:a="http://schemas.openxmlformats.org/drawingml/2006/main">
              <a:ext uri="{FF2B5EF4-FFF2-40B4-BE49-F238E27FC236}">
                <a16:creationId xmlns:a16="http://schemas.microsoft.com/office/drawing/2014/main" id="{03C65A62-A4A4-497A-A6BB-60C717087643}"/>
              </a:ext>
            </a:extLst>
          </p:cNvPr>
          <p:cNvSpPr>
            <a:spLocks xmlns:a="http://schemas.openxmlformats.org/drawingml/2006/main" noGrp="1"/>
          </p:cNvSpPr>
          <p:nvPr/>
        </p:nvSpPr>
        <p:spPr>
          <a:xfrm xmlns:a="http://schemas.openxmlformats.org/drawingml/2006/main">
            <a:off x="4381500" y="2095500"/>
            <a:ext cx="6572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0D0A17"/>
                </a:solidFill>
              </a:defRPr>
            </a:pPr>
            <a:r>
              <a:rPr sz="2850" b="1">
                <a:solidFill>
                  <a:srgbClr val="0D0A17"/>
                </a:solidFill>
              </a:rPr>
              <a:t>A run that measures</a:t>
            </a:r>
          </a:p>
          <a:p xmlns:a="http://schemas.openxmlformats.org/drawingml/2006/main">
            <a:pPr algn="l">
              <a:defRPr sz="2850" b="1">
                <a:solidFill>
                  <a:srgbClr val="0D0A17"/>
                </a:solidFill>
              </a:defRPr>
            </a:pPr>
            <a:r>
              <a:rPr sz="2850" b="1">
                <a:solidFill>
                  <a:srgbClr val="0D0A17"/>
                </a:solidFill>
              </a:rPr>
              <a:t>thinking under load —</a:t>
            </a:r>
          </a:p>
          <a:p xmlns:a="http://schemas.openxmlformats.org/drawingml/2006/main">
            <a:pPr algn="l">
              <a:defRPr sz="2850" b="1">
                <a:solidFill>
                  <a:srgbClr val="0D0A17"/>
                </a:solidFill>
              </a:defRPr>
            </a:pPr>
            <a:r>
              <a:rPr sz="2850" b="1">
                <a:solidFill>
                  <a:srgbClr val="0D0A17"/>
                </a:solidFill>
              </a:rPr>
              <a:t>and recruits and funds itself.</a:t>
            </a:r>
          </a:p>
        </p:txBody>
      </p:sp>
      <p:sp>
        <p:nvSpPr>
          <p:cNvPr id="8" name="cta">
            <a:extLst xmlns:a="http://schemas.openxmlformats.org/drawingml/2006/main">
              <a:ext uri="{FF2B5EF4-FFF2-40B4-BE49-F238E27FC236}">
                <a16:creationId xmlns:a16="http://schemas.microsoft.com/office/drawing/2014/main" id="{2AE39916-70EB-4CC6-97D9-7643D4903FCE}"/>
              </a:ext>
            </a:extLst>
          </p:cNvPr>
          <p:cNvSpPr>
            <a:spLocks xmlns:a="http://schemas.openxmlformats.org/drawingml/2006/main" noGrp="1"/>
          </p:cNvSpPr>
          <p:nvPr/>
        </p:nvSpPr>
        <p:spPr>
          <a:xfrm xmlns:a="http://schemas.openxmlformats.org/drawingml/2006/main">
            <a:off x="4381500" y="4476750"/>
            <a:ext cx="3429000" cy="609600"/>
          </a:xfrm>
          <a:prstGeom xmlns:a="http://schemas.openxmlformats.org/drawingml/2006/main" prst="roundRect">
            <a:avLst>
              <a:gd name="adj" fmla="val 50000"/>
            </a:avLst>
          </a:prstGeom>
          <a:solidFill xmlns:a="http://schemas.openxmlformats.org/drawingml/2006/main">
            <a:srgbClr val="6C55E8"/>
          </a:solidFill>
          <a:ln xmlns:a="http://schemas.openxmlformats.org/drawingml/2006/main" w="0">
            <a:noFill/>
            <a:prstDash val="solid"/>
          </a:ln>
        </p:spPr>
      </p:sp>
      <p:sp>
        <p:nvSpPr>
          <p:cNvPr id="9" name="cta-text">
            <a:extLst xmlns:a="http://schemas.openxmlformats.org/drawingml/2006/main">
              <a:ext uri="{FF2B5EF4-FFF2-40B4-BE49-F238E27FC236}">
                <a16:creationId xmlns:a16="http://schemas.microsoft.com/office/drawing/2014/main" id="{03F68E8B-7773-4BEB-97B8-EEC5784E8F60}"/>
              </a:ext>
            </a:extLst>
          </p:cNvPr>
          <p:cNvSpPr>
            <a:spLocks xmlns:a="http://schemas.openxmlformats.org/drawingml/2006/main" noGrp="1"/>
          </p:cNvSpPr>
          <p:nvPr/>
        </p:nvSpPr>
        <p:spPr>
          <a:xfrm xmlns:a="http://schemas.openxmlformats.org/drawingml/2006/main">
            <a:off x="4619625" y="4572000"/>
            <a:ext cx="295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FFFFFF"/>
                </a:solidFill>
              </a:defRPr>
            </a:pPr>
            <a:r>
              <a:rPr sz="1575" b="1">
                <a:solidFill>
                  <a:srgbClr val="FFFFFF"/>
                </a:solidFill>
              </a:rPr>
              <a:t>TRY THE LIVE PROTOTYPE →</a:t>
            </a:r>
          </a:p>
        </p:txBody>
      </p:sp>
      <p:sp>
        <p:nvSpPr>
          <p:cNvPr id="10" name="platforms">
            <a:extLst xmlns:a="http://schemas.openxmlformats.org/drawingml/2006/main">
              <a:ext uri="{FF2B5EF4-FFF2-40B4-BE49-F238E27FC236}">
                <a16:creationId xmlns:a16="http://schemas.microsoft.com/office/drawing/2014/main" id="{3C6A900C-54C4-4FFC-8779-050BB2FA3831}"/>
              </a:ext>
            </a:extLst>
          </p:cNvPr>
          <p:cNvSpPr>
            <a:spLocks xmlns:a="http://schemas.openxmlformats.org/drawingml/2006/main" noGrp="1"/>
          </p:cNvSpPr>
          <p:nvPr/>
        </p:nvSpPr>
        <p:spPr>
          <a:xfrm xmlns:a="http://schemas.openxmlformats.org/drawingml/2006/main">
            <a:off x="4381500" y="52387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666474"/>
                </a:solidFill>
              </a:defRPr>
            </a:pPr>
            <a:r>
              <a:rPr sz="1575" b="1">
                <a:solidFill>
                  <a:srgbClr val="666474"/>
                </a:solidFill>
              </a:rPr>
              <a:t>Browser demo + Android prototype</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408c4bddab94aa9"/>
          <a:stretch xmlns:a="http://schemas.openxmlformats.org/drawingml/2006/main"/>
        </p:blipFill>
        <p:spPr>
          <a:xfrm xmlns:a="http://schemas.openxmlformats.org/drawingml/2006/main">
            <a:off x="9810750" y="4429125"/>
            <a:ext cx="1381125" cy="1381125"/>
          </a:xfrm>
          <a:prstGeom xmlns:a="http://schemas.openxmlformats.org/drawingml/2006/main" prst="rect">
            <a:avLst/>
          </a:prstGeom>
        </p:spPr>
      </p:pic>
      <p:sp>
        <p:nvSpPr>
          <p:cNvPr id="12" name="qr-caption">
            <a:extLst xmlns:a="http://schemas.openxmlformats.org/drawingml/2006/main">
              <a:ext uri="{FF2B5EF4-FFF2-40B4-BE49-F238E27FC236}">
                <a16:creationId xmlns:a16="http://schemas.microsoft.com/office/drawing/2014/main" id="{0FE53E35-5383-4589-8482-096D2C834189}"/>
              </a:ext>
            </a:extLst>
          </p:cNvPr>
          <p:cNvSpPr>
            <a:spLocks xmlns:a="http://schemas.openxmlformats.org/drawingml/2006/main" noGrp="1"/>
          </p:cNvSpPr>
          <p:nvPr/>
        </p:nvSpPr>
        <p:spPr>
          <a:xfrm xmlns:a="http://schemas.openxmlformats.org/drawingml/2006/main">
            <a:off x="9763125" y="5829300"/>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6C55E8"/>
                </a:solidFill>
              </a:defRPr>
            </a:pPr>
            <a:r>
              <a:rPr sz="975" b="1">
                <a:solidFill>
                  <a:srgbClr val="6C55E8"/>
                </a:solidFill>
              </a:rPr>
              <a:t>SCAN TO TRY</a:t>
            </a:r>
          </a:p>
        </p:txBody>
      </p:sp>
      <p:sp>
        <p:nvSpPr>
          <p:cNvPr id="13" name="analogy-note">
            <a:extLst xmlns:a="http://schemas.openxmlformats.org/drawingml/2006/main">
              <a:ext uri="{FF2B5EF4-FFF2-40B4-BE49-F238E27FC236}">
                <a16:creationId xmlns:a16="http://schemas.microsoft.com/office/drawing/2014/main" id="{A52B2512-0486-410C-A135-C17606FC45FF}"/>
              </a:ext>
            </a:extLst>
          </p:cNvPr>
          <p:cNvSpPr>
            <a:spLocks xmlns:a="http://schemas.openxmlformats.org/drawingml/2006/main" noGrp="1"/>
          </p:cNvSpPr>
          <p:nvPr/>
        </p:nvSpPr>
        <p:spPr>
          <a:xfrm xmlns:a="http://schemas.openxmlformats.org/drawingml/2006/main">
            <a:off x="4381500" y="62388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666474"/>
                </a:solidFill>
              </a:defRPr>
            </a:pPr>
            <a:r>
              <a:rPr sz="975" b="0">
                <a:solidFill>
                  <a:srgbClr val="666474"/>
                </a:solidFill>
              </a:rPr>
              <a:t>Category analogy—not Strava affiliation. Prototype result shown for demonstration.</a:t>
            </a:r>
          </a:p>
        </p:txBody>
      </p:sp>
    </p:spTree>
    <p:extLst>
      <p:ext uri="{BB962C8B-B14F-4D97-AF65-F5344CB8AC3E}">
        <p14:creationId xmlns:p14="http://schemas.microsoft.com/office/powerpoint/2010/main" val="657992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2026-08-29T18:06:46.0490000Z</dcterms:created>
  <dcterms:modified xsi:type="dcterms:W3CDTF">2026-08-29T18:06:46.0500000Z</dcterms:modified>
</coreProperties>
</file>