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75d70407204086" /><Relationship Type="http://schemas.openxmlformats.org/officeDocument/2006/relationships/extended-properties" Target="/docProps/app.xml" Id="R773fd12fa4b64b02" /><Relationship Type="http://schemas.openxmlformats.org/officeDocument/2006/relationships/officeDocument" Target="/ppt/presentation.xml" Id="Rc0abc242b62749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5777780a1e4888"/>
  </p:sldMasterIdLst>
  <p:notesMasterIdLst>
    <p:notesMasterId xmlns:r="http://schemas.openxmlformats.org/officeDocument/2006/relationships" r:id="R079bd45e26d84779"/>
  </p:notesMasterIdLst>
  <p:sldIdLst>
    <p:sldId xmlns:r="http://schemas.openxmlformats.org/officeDocument/2006/relationships" id="256" r:id="R399786d274aa48f2"/>
    <p:sldId xmlns:r="http://schemas.openxmlformats.org/officeDocument/2006/relationships" id="257" r:id="R5b0f60f935454d31"/>
    <p:sldId xmlns:r="http://schemas.openxmlformats.org/officeDocument/2006/relationships" id="258" r:id="R2251fec6e3b14b0b"/>
    <p:sldId xmlns:r="http://schemas.openxmlformats.org/officeDocument/2006/relationships" id="259" r:id="R5031ae5850004a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250b3b09744a56" /><Relationship Type="http://schemas.openxmlformats.org/officeDocument/2006/relationships/slideMaster" Target="/ppt/slideMasters/slideMaster1.xml" Id="Rb75777780a1e4888" /><Relationship Type="http://schemas.openxmlformats.org/officeDocument/2006/relationships/notesMaster" Target="/ppt/notesMasters/notesMaster1.xml" Id="R079bd45e26d84779" /><Relationship Type="http://schemas.openxmlformats.org/officeDocument/2006/relationships/presProps" Target="/ppt/presProps.xml" Id="Reac216707e8b4410" /><Relationship Type="http://schemas.openxmlformats.org/officeDocument/2006/relationships/tableStyles" Target="/ppt/tableStyles.xml" Id="R419acff4e77f48b4" /><Relationship Type="http://schemas.openxmlformats.org/officeDocument/2006/relationships/slide" Target="/ppt/slides/slide1.xml" Id="R399786d274aa48f2" /><Relationship Type="http://schemas.openxmlformats.org/officeDocument/2006/relationships/slide" Target="/ppt/slides/slide2.xml" Id="R5b0f60f935454d31" /><Relationship Type="http://schemas.openxmlformats.org/officeDocument/2006/relationships/slide" Target="/ppt/slides/slide3.xml" Id="R2251fec6e3b14b0b" /><Relationship Type="http://schemas.openxmlformats.org/officeDocument/2006/relationships/slide" Target="/ppt/slides/slide4.xml" Id="R5031ae5850004a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692ca8f97342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8db483d3e14f88" /><Relationship Type="http://schemas.openxmlformats.org/officeDocument/2006/relationships/notesMaster" Target="/ppt/notesMasters/notesMaster1.xml" Id="Re02b4e949dfa45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d6647798054e89" /><Relationship Type="http://schemas.openxmlformats.org/officeDocument/2006/relationships/notesMaster" Target="/ppt/notesMasters/notesMaster1.xml" Id="Rdfaae154f24b45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8d4d89df3e4312" /><Relationship Type="http://schemas.openxmlformats.org/officeDocument/2006/relationships/notesMaster" Target="/ppt/notesMasters/notesMaster1.xml" Id="Rff478698e97646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cd49fcc6aa4d3a" /><Relationship Type="http://schemas.openxmlformats.org/officeDocument/2006/relationships/notesMaster" Target="/ppt/notesMasters/notesMaster1.xml" Id="Rcdafe189066d44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fitness apps map the body. CogniRun maps what happens to your thinking as your body changes state. You sit, walk, run through personalised heart-rate zones and recover. Voice prompts keep your hands free. The output is your provisional cognitive heart-rate threshold: where this task, today, started to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hero image generated for CogniRun in this repository; prompt recorded in marketing/pitch-deck/.tmp-build/source-notes.txt.</a:t>
            </a:r>
          </a:p>
          <a:p xmlns:a="http://schemas.openxmlformats.org/drawingml/2006/main">
            <a:r>
              <a:t>- Swain &amp; Leutholtz (1997), HRR as an exercise-intensity proxy: https://pubmed.ncbi.nlm.nih.gov/9139182/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That question is grounded in real variation, not a smarter-running promise. In Stanford Experiment 1, 48 students produced around sixty percent more appropriate novel ideas while walking, yet their convergent one-answer task declined. Another controlled treadmill study found accuracy fell during moderate versus low-intensity running while post-run reaction time shifted with intensity. So we do not prescribe one magic zone. We find the pattern for a specific person and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Oppezzo &amp; Schwartz (2014), Experiment 1: https://aaalab.stanford.edu/assets/papers/2014/Give_your_ideas_some_legs.pdf</a:t>
            </a:r>
          </a:p>
          <a:p xmlns:a="http://schemas.openxmlformats.org/drawingml/2006/main">
            <a:r>
              <a:t>- Wohlwend et al. (2017), controlled treadmill running and cognitive control: https://www.frontiersin.org/journals/psychology/articles/10.3389/fpsyg.2017.00406/full</a:t>
            </a:r>
          </a:p>
          <a:p xmlns:a="http://schemas.openxmlformats.org/drawingml/2006/main">
            <a:r>
              <a:t>- Garrett et al. (2024), acute physical activity meta-analysis: https://www.nature.com/articles/s44271-024-00124-2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Here it is. The runner enters Zone 2. CogniRun sends a question through voice, her answer is captured hands-free, judged against the task key and timestamped against heart rate and pace. We repeat across seated, standing, walking, Zone 2, Zone 3 and recovery. One scan is an early signal. Repeat scans show whether the pattern holds.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runner/Garmin footage and CogniRun Remotion interface composite: marketing/cognirun-ad/out/cognirun-pitch-16x9.mp4.</a:t>
            </a:r>
          </a:p>
          <a:p xmlns:a="http://schemas.openxmlformats.org/drawingml/2006/main">
            <a:r>
              <a:t>- Product interaction is illustrative; telemetry shown in this clip is synthetic and labelled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Then we scale through three customers. Individuals use focused packs to prepare for interviews, driving theory or memory drills. Scientists publish opt-in challenges and recruit participants through an experience people actually want to complete. Brands sponsor question packs, prizes and challenge themes. That gives us a consumer subscription, a research platform and sponsored revenue in one loop. CogniRun: train the body and brain, recruit the study, fund the challenge.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Strava Business Sponsored Challenges as a commercial analogue: https://business.strava.com/challenges</a:t>
            </a:r>
          </a:p>
          <a:p xmlns:a="http://schemas.openxmlformats.org/drawingml/2006/main">
            <a:r>
              <a:t>- Prolific as an online participant-recruitment analogue: https://www.prolific.com/</a:t>
            </a:r>
          </a:p>
          <a:p xmlns:a="http://schemas.openxmlformats.org/drawingml/2006/main">
            <a:r>
              <a:t>- These are go-to-market hypotheses and roadmap concepts, not current CogniRun revenue or traction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d6c46dd8048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afb05dd52f4464" /><Relationship Type="http://schemas.openxmlformats.org/officeDocument/2006/relationships/slideLayout" Target="/ppt/slideLayouts/slideLayout1.xml" Id="Rc44b9cf090684c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b9cf090684c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b4b8965f54ed4" /><Relationship Type="http://schemas.openxmlformats.org/officeDocument/2006/relationships/image" Target="/ppt/media/image.png" Id="R514cbd2b1e0244ce" /><Relationship Type="http://schemas.openxmlformats.org/officeDocument/2006/relationships/notesSlide" Target="/ppt/notesSlides/notesSlide1.xml" Id="Rbb64b6ae736346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ea6fb075c4652" /><Relationship Type="http://schemas.openxmlformats.org/officeDocument/2006/relationships/notesSlide" Target="/ppt/notesSlides/notesSlide2.xml" Id="R9e1a97daae9e41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962be501c4ba3" /><Relationship Type="http://schemas.openxmlformats.org/officeDocument/2006/relationships/image" Target="/ppt/media/image.gif" Id="Rcb2fb39a7eaa4a98" /><Relationship Type="http://schemas.openxmlformats.org/officeDocument/2006/relationships/notesSlide" Target="/ppt/notesSlides/notesSlide3.xml" Id="Rd53ef337c85a47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4e51523be45ed" /><Relationship Type="http://schemas.openxmlformats.org/officeDocument/2006/relationships/image" Target="/ppt/media/image2.png" Id="R455157c2878c4a84" /><Relationship Type="http://schemas.openxmlformats.org/officeDocument/2006/relationships/notesSlide" Target="/ppt/notesSlides/notesSlide4.xml" Id="Re66ce99bee6446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cbd2b1e0244c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hero-dark-overlay">
            <a:extLst xmlns:a="http://schemas.openxmlformats.org/drawingml/2006/main">
              <a:ext uri="{FF2B5EF4-FFF2-40B4-BE49-F238E27FC236}">
                <a16:creationId xmlns:a16="http://schemas.microsoft.com/office/drawing/2014/main" id="{9DAC5B0D-A80D-43CD-A2C4-570B56DA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0B0D">
                  <a:alpha val="96000"/>
                </a:srgbClr>
              </a:gs>
              <a:gs pos="42000">
                <a:srgbClr val="080B0D">
                  <a:alpha val="86000"/>
                </a:srgbClr>
              </a:gs>
              <a:gs pos="76000">
                <a:srgbClr val="080B0D">
                  <a:alpha val="12000"/>
                </a:srgbClr>
              </a:gs>
              <a:gs pos="100000">
                <a:srgbClr val="080B0D">
                  <a:alpha val="2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brand-pulse">
            <a:extLst xmlns:a="http://schemas.openxmlformats.org/drawingml/2006/main">
              <a:ext uri="{FF2B5EF4-FFF2-40B4-BE49-F238E27FC236}">
                <a16:creationId xmlns:a16="http://schemas.microsoft.com/office/drawing/2014/main" id="{763476A0-5846-44ED-BAA9-2A906928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FF63"/>
                </a:solidFill>
              </a:defRPr>
            </a:pPr>
            <a:r>
              <a:rPr sz="2100" b="1">
                <a:solidFill>
                  <a:srgbClr val="D9FF63"/>
                </a:solidFill>
              </a:rPr>
              <a:t>⌁</a:t>
            </a:r>
          </a:p>
        </p:txBody>
      </p:sp>
      <p:sp>
        <p:nvSpPr>
          <p:cNvPr id="4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66CCFC1A-91ED-41DA-B12A-C5A3E947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1ED"/>
                </a:solidFill>
              </a:defRPr>
            </a:pPr>
            <a:r>
              <a:rPr sz="1500" b="1">
                <a:solidFill>
                  <a:srgbClr val="EDF1ED"/>
                </a:solidFill>
              </a:rPr>
              <a:t>COGNI</a:t>
            </a:r>
          </a:p>
        </p:txBody>
      </p:sp>
      <p:sp>
        <p:nvSpPr>
          <p:cNvPr id="5" name="brand-wordmark-run">
            <a:extLst xmlns:a="http://schemas.openxmlformats.org/drawingml/2006/main">
              <a:ext uri="{FF2B5EF4-FFF2-40B4-BE49-F238E27FC236}">
                <a16:creationId xmlns:a16="http://schemas.microsoft.com/office/drawing/2014/main" id="{A57CD852-29FC-4742-A69C-7F533A7C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43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FF63"/>
                </a:solidFill>
              </a:defRPr>
            </a:pPr>
            <a:r>
              <a:rPr sz="1500" b="1">
                <a:solidFill>
                  <a:srgbClr val="D9FF63"/>
                </a:solidFill>
              </a:rPr>
              <a:t>RUN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E66D9180-8FD2-40F1-A968-DEC3B0B6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63"/>
                </a:solidFill>
              </a:defRPr>
            </a:pPr>
            <a:r>
              <a:rPr sz="1200" b="1">
                <a:solidFill>
                  <a:srgbClr val="D9FF63"/>
                </a:solidFill>
              </a:rPr>
              <a:t>COGNIRUN · BRAIN × BODY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E95E86E-5F4A-4E9A-A68A-AE6FDDCE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286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EDF1ED"/>
                </a:solidFill>
              </a:defRPr>
            </a:pPr>
            <a:r>
              <a:rPr sz="4650" b="1">
                <a:solidFill>
                  <a:srgbClr val="EDF1ED"/>
                </a:solidFill>
              </a:rPr>
              <a:t>YOUR BODY</a:t>
            </a:r>
          </a:p>
          <a:p xmlns:a="http://schemas.openxmlformats.org/drawingml/2006/main">
            <a:pPr algn="l">
              <a:defRPr sz="4650" b="1">
                <a:solidFill>
                  <a:srgbClr val="EDF1ED"/>
                </a:solidFill>
              </a:defRPr>
            </a:pPr>
            <a:r>
              <a:rPr sz="4650" b="1">
                <a:solidFill>
                  <a:srgbClr val="EDF1ED"/>
                </a:solidFill>
              </a:rPr>
              <a:t>HAS ZONES.</a:t>
            </a:r>
          </a:p>
          <a:p xmlns:a="http://schemas.openxmlformats.org/drawingml/2006/main">
            <a:pPr algn="l">
              <a:defRPr sz="4650" b="1">
                <a:solidFill>
                  <a:srgbClr val="EDF1ED"/>
                </a:solidFill>
              </a:defRPr>
            </a:pPr>
            <a:r>
              <a:rPr sz="4650" b="1">
                <a:solidFill>
                  <a:srgbClr val="EDF1ED"/>
                </a:solidFill>
              </a:rPr>
              <a:t>SO DOES YOUR</a:t>
            </a:r>
          </a:p>
          <a:p xmlns:a="http://schemas.openxmlformats.org/drawingml/2006/main">
            <a:pPr algn="l">
              <a:defRPr sz="4650" b="1">
                <a:solidFill>
                  <a:srgbClr val="EDF1ED"/>
                </a:solidFill>
              </a:defRPr>
            </a:pPr>
            <a:r>
              <a:rPr sz="4650" b="1">
                <a:solidFill>
                  <a:srgbClr val="EDF1ED"/>
                </a:solidFill>
              </a:rPr>
              <a:t>THINKING.</a:t>
            </a:r>
          </a:p>
        </p:txBody>
      </p:sp>
      <p:sp>
        <p:nvSpPr>
          <p:cNvPr id="8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03141CD-F67E-48D6-AC97-73D7C34E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17BE281A-5AD9-4820-A6E0-1CEDB516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F1ED"/>
                </a:solidFill>
              </a:defRPr>
            </a:pPr>
            <a:r>
              <a:rPr sz="1875" b="1">
                <a:solidFill>
                  <a:srgbClr val="EDF1ED"/>
                </a:solidFill>
              </a:rPr>
              <a:t>Find your provisional cognitive heart-rate threshold.</a:t>
            </a:r>
          </a:p>
        </p:txBody>
      </p:sp>
      <p:sp>
        <p:nvSpPr>
          <p:cNvPr id="10" name="guardrail">
            <a:extLst xmlns:a="http://schemas.openxmlformats.org/drawingml/2006/main">
              <a:ext uri="{FF2B5EF4-FFF2-40B4-BE49-F238E27FC236}">
                <a16:creationId xmlns:a16="http://schemas.microsoft.com/office/drawing/2014/main" id="{17A188E1-C29F-43D6-BC51-8222DA2E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7A39D"/>
                </a:solidFill>
              </a:defRPr>
            </a:pPr>
            <a:r>
              <a:rPr sz="1125" b="0">
                <a:solidFill>
                  <a:srgbClr val="97A39D"/>
                </a:solidFill>
              </a:rPr>
              <a:t>Task-specific · baseline-relative · not IQ</a:t>
            </a:r>
          </a:p>
        </p:txBody>
      </p:sp>
      <p:sp>
        <p:nvSpPr>
          <p:cNvPr id="11" name="runner-mark">
            <a:extLst xmlns:a="http://schemas.openxmlformats.org/drawingml/2006/main">
              <a:ext uri="{FF2B5EF4-FFF2-40B4-BE49-F238E27FC236}">
                <a16:creationId xmlns:a16="http://schemas.microsoft.com/office/drawing/2014/main" id="{47A51F77-61B1-4694-B468-31BBB3F6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81625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EDF1ED"/>
                </a:solidFill>
              </a:defRPr>
            </a:pPr>
            <a:r>
              <a:rPr sz="4050" b="0">
                <a:solidFill>
                  <a:srgbClr val="EDF1ED"/>
                </a:solidFill>
              </a:rPr>
              <a:t>🏃</a:t>
            </a:r>
          </a:p>
        </p:txBody>
      </p:sp>
    </p:spTree>
    <p:extLst>
      <p:ext uri="{BB962C8B-B14F-4D97-AF65-F5344CB8AC3E}">
        <p14:creationId xmlns:p14="http://schemas.microsoft.com/office/powerpoint/2010/main" val="512049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-pulse">
            <a:extLst xmlns:a="http://schemas.openxmlformats.org/drawingml/2006/main">
              <a:ext uri="{FF2B5EF4-FFF2-40B4-BE49-F238E27FC236}">
                <a16:creationId xmlns:a16="http://schemas.microsoft.com/office/drawing/2014/main" id="{7FEBFC0E-D544-436E-BA67-C64128F1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FF63"/>
                </a:solidFill>
              </a:defRPr>
            </a:pPr>
            <a:r>
              <a:rPr sz="2100" b="1">
                <a:solidFill>
                  <a:srgbClr val="D9FF63"/>
                </a:solidFill>
              </a:rPr>
              <a:t>⌁</a:t>
            </a:r>
          </a:p>
        </p:txBody>
      </p:sp>
      <p:sp>
        <p:nvSpPr>
          <p:cNvPr id="2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22184162-031A-4286-8AA5-7454E12A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0B0D"/>
                </a:solidFill>
              </a:defRPr>
            </a:pPr>
            <a:r>
              <a:rPr sz="1500" b="1">
                <a:solidFill>
                  <a:srgbClr val="080B0D"/>
                </a:solidFill>
              </a:rPr>
              <a:t>COGNI</a:t>
            </a:r>
          </a:p>
        </p:txBody>
      </p:sp>
      <p:sp>
        <p:nvSpPr>
          <p:cNvPr id="3" name="brand-wordmark-run">
            <a:extLst xmlns:a="http://schemas.openxmlformats.org/drawingml/2006/main">
              <a:ext uri="{FF2B5EF4-FFF2-40B4-BE49-F238E27FC236}">
                <a16:creationId xmlns:a16="http://schemas.microsoft.com/office/drawing/2014/main" id="{55B7A75A-EC43-4AD0-9496-678DE080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43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FF63"/>
                </a:solidFill>
              </a:defRPr>
            </a:pPr>
            <a:r>
              <a:rPr sz="1500" b="1">
                <a:solidFill>
                  <a:srgbClr val="D9FF63"/>
                </a:solidFill>
              </a:rPr>
              <a:t>RUN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54E8BD54-696B-41CB-B81F-010B9DC5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3BF"/>
                </a:solidFill>
              </a:defRPr>
            </a:pPr>
            <a:r>
              <a:rPr sz="1200" b="1">
                <a:solidFill>
                  <a:srgbClr val="6653BF"/>
                </a:solidFill>
              </a:rPr>
              <a:t>THE SCIENCE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A714672-DE00-41D5-BC62-C34F7261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0B0D"/>
                </a:solidFill>
              </a:defRPr>
            </a:pPr>
            <a:r>
              <a:rPr sz="3150" b="1">
                <a:solidFill>
                  <a:srgbClr val="080B0D"/>
                </a:solidFill>
              </a:rPr>
              <a:t>ONE RITUAL DOESN’T FIT EVERY BRAIN.</a:t>
            </a:r>
          </a:p>
        </p:txBody>
      </p:sp>
      <p:sp>
        <p:nvSpPr>
          <p:cNvPr id="6" name="big-number">
            <a:extLst xmlns:a="http://schemas.openxmlformats.org/drawingml/2006/main">
              <a:ext uri="{FF2B5EF4-FFF2-40B4-BE49-F238E27FC236}">
                <a16:creationId xmlns:a16="http://schemas.microsoft.com/office/drawing/2014/main" id="{5383EBE0-0B9D-4742-B8D7-610E1B0F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6653BF"/>
                </a:solidFill>
              </a:defRPr>
            </a:pPr>
            <a:r>
              <a:rPr sz="6300" b="1">
                <a:solidFill>
                  <a:srgbClr val="6653BF"/>
                </a:solidFill>
              </a:rPr>
              <a:t>≈60%</a:t>
            </a:r>
          </a:p>
        </p:txBody>
      </p:sp>
      <p:sp>
        <p:nvSpPr>
          <p:cNvPr id="7" name="metric-copy">
            <a:extLst xmlns:a="http://schemas.openxmlformats.org/drawingml/2006/main">
              <a:ext uri="{FF2B5EF4-FFF2-40B4-BE49-F238E27FC236}">
                <a16:creationId xmlns:a16="http://schemas.microsoft.com/office/drawing/2014/main" id="{B9F2474B-C2DB-42F1-AB2D-B0EA8456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0B0D"/>
                </a:solidFill>
              </a:defRPr>
            </a:pPr>
            <a:r>
              <a:rPr sz="1725" b="1">
                <a:solidFill>
                  <a:srgbClr val="080B0D"/>
                </a:solidFill>
              </a:rPr>
              <a:t>more appropriate novel alternate uses while walking</a:t>
            </a:r>
          </a:p>
        </p:txBody>
      </p:sp>
      <p:sp>
        <p:nvSpPr>
          <p:cNvPr id="8" name="metric-source">
            <a:extLst xmlns:a="http://schemas.openxmlformats.org/drawingml/2006/main">
              <a:ext uri="{FF2B5EF4-FFF2-40B4-BE49-F238E27FC236}">
                <a16:creationId xmlns:a16="http://schemas.microsoft.com/office/drawing/2014/main" id="{C4CE083B-D19F-406C-B3C3-487F9393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F"/>
                </a:solidFill>
              </a:defRPr>
            </a:pPr>
            <a:r>
              <a:rPr sz="1200" b="0">
                <a:solidFill>
                  <a:srgbClr val="59635F"/>
                </a:solidFill>
              </a:rPr>
              <a:t>Stanford Experiment 1 · 48 students</a:t>
            </a:r>
          </a:p>
          <a:p xmlns:a="http://schemas.openxmlformats.org/drawingml/2006/main">
            <a:pPr algn="l">
              <a:defRPr sz="1200" b="0">
                <a:solidFill>
                  <a:srgbClr val="59635F"/>
                </a:solidFill>
              </a:defRPr>
            </a:pPr>
            <a:r>
              <a:rPr sz="1200" b="0">
                <a:solidFill>
                  <a:srgbClr val="59635F"/>
                </a:solidFill>
              </a:rPr>
              <a:t>Divergent-thinking task—not IQ.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DF58DD8D-6E39-4866-9850-8C36EB06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47875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5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ntrast-one">
            <a:extLst xmlns:a="http://schemas.openxmlformats.org/drawingml/2006/main">
              <a:ext uri="{FF2B5EF4-FFF2-40B4-BE49-F238E27FC236}">
                <a16:creationId xmlns:a16="http://schemas.microsoft.com/office/drawing/2014/main" id="{F8CC1D07-3BF6-4F2A-BBE8-D4D0B823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53BF"/>
                </a:solidFill>
              </a:defRPr>
            </a:pPr>
            <a:r>
              <a:rPr sz="1350" b="1">
                <a:solidFill>
                  <a:srgbClr val="6653BF"/>
                </a:solidFill>
              </a:rPr>
              <a:t>WALKING</a:t>
            </a:r>
          </a:p>
        </p:txBody>
      </p:sp>
      <p:sp>
        <p:nvSpPr>
          <p:cNvPr id="11" name="contrast-one-body">
            <a:extLst xmlns:a="http://schemas.openxmlformats.org/drawingml/2006/main">
              <a:ext uri="{FF2B5EF4-FFF2-40B4-BE49-F238E27FC236}">
                <a16:creationId xmlns:a16="http://schemas.microsoft.com/office/drawing/2014/main" id="{C6C54E13-31CC-428A-BA93-421AAA0A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193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B0D"/>
                </a:solidFill>
              </a:defRPr>
            </a:pPr>
            <a:r>
              <a:rPr sz="2250" b="1">
                <a:solidFill>
                  <a:srgbClr val="080B0D"/>
                </a:solidFill>
              </a:rPr>
              <a:t>Idea generation rose.</a:t>
            </a:r>
          </a:p>
        </p:txBody>
      </p:sp>
      <p:sp>
        <p:nvSpPr>
          <p:cNvPr id="12" name="contrast-two">
            <a:extLst xmlns:a="http://schemas.openxmlformats.org/drawingml/2006/main">
              <a:ext uri="{FF2B5EF4-FFF2-40B4-BE49-F238E27FC236}">
                <a16:creationId xmlns:a16="http://schemas.microsoft.com/office/drawing/2014/main" id="{C11FA1D5-C04E-4123-9B0D-E3F85358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05C"/>
                </a:solidFill>
              </a:defRPr>
            </a:pPr>
            <a:r>
              <a:rPr sz="1350" b="1">
                <a:solidFill>
                  <a:srgbClr val="FF705C"/>
                </a:solidFill>
              </a:rPr>
              <a:t>ONE-ANSWER TASK</a:t>
            </a:r>
          </a:p>
        </p:txBody>
      </p:sp>
      <p:sp>
        <p:nvSpPr>
          <p:cNvPr id="13" name="contrast-two-body">
            <a:extLst xmlns:a="http://schemas.openxmlformats.org/drawingml/2006/main">
              <a:ext uri="{FF2B5EF4-FFF2-40B4-BE49-F238E27FC236}">
                <a16:creationId xmlns:a16="http://schemas.microsoft.com/office/drawing/2014/main" id="{DE9C5B37-5881-4108-B07E-C8B8115F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623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B0D"/>
                </a:solidFill>
              </a:defRPr>
            </a:pPr>
            <a:r>
              <a:rPr sz="2250" b="1">
                <a:solidFill>
                  <a:srgbClr val="080B0D"/>
                </a:solidFill>
              </a:rPr>
              <a:t>Performance modestly declined.</a:t>
            </a:r>
          </a:p>
        </p:txBody>
      </p:sp>
      <p:sp>
        <p:nvSpPr>
          <p:cNvPr id="14" name="implication">
            <a:extLst xmlns:a="http://schemas.openxmlformats.org/drawingml/2006/main">
              <a:ext uri="{FF2B5EF4-FFF2-40B4-BE49-F238E27FC236}">
                <a16:creationId xmlns:a16="http://schemas.microsoft.com/office/drawing/2014/main" id="{65A543DC-B67A-441E-AE95-50B6533D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14875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653BF"/>
                </a:solidFill>
              </a:defRPr>
            </a:pPr>
            <a:r>
              <a:rPr sz="1875" b="1">
                <a:solidFill>
                  <a:srgbClr val="6653BF"/>
                </a:solidFill>
              </a:rPr>
              <a:t>Task, timing, intensity and person all matter.</a:t>
            </a:r>
          </a:p>
        </p:txBody>
      </p:sp>
      <p:sp>
        <p:nvSpPr>
          <p:cNvPr id="15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703ABDCD-2458-47E4-8995-25F3A23C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A0E54A92-8911-4F5E-BC3E-852571E2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FF63"/>
                </a:solidFill>
              </a:defRPr>
            </a:pPr>
            <a:r>
              <a:rPr sz="2100" b="1">
                <a:solidFill>
                  <a:srgbClr val="D9FF63"/>
                </a:solidFill>
              </a:rPr>
              <a:t>WE DON’T PRESCRIBE A MAGIC ZONE. WE HELP YOU FIND YOUR PATTERN.</a:t>
            </a:r>
          </a:p>
        </p:txBody>
      </p:sp>
      <p:sp>
        <p:nvSpPr>
          <p:cNvPr id="17" name="shoe-mark">
            <a:extLst xmlns:a="http://schemas.openxmlformats.org/drawingml/2006/main">
              <a:ext uri="{FF2B5EF4-FFF2-40B4-BE49-F238E27FC236}">
                <a16:creationId xmlns:a16="http://schemas.microsoft.com/office/drawing/2014/main" id="{69311A88-F898-489B-80F0-F56C38C4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9055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EDF1ED"/>
                </a:solidFill>
              </a:defRPr>
            </a:pPr>
            <a:r>
              <a:rPr sz="2700" b="0">
                <a:solidFill>
                  <a:srgbClr val="EDF1ED"/>
                </a:solidFill>
              </a:rPr>
              <a:t>👟</a:t>
            </a:r>
          </a:p>
        </p:txBody>
      </p:sp>
    </p:spTree>
    <p:extLst>
      <p:ext uri="{BB962C8B-B14F-4D97-AF65-F5344CB8AC3E}">
        <p14:creationId xmlns:p14="http://schemas.microsoft.com/office/powerpoint/2010/main" val="748806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pulse">
            <a:extLst xmlns:a="http://schemas.openxmlformats.org/drawingml/2006/main">
              <a:ext uri="{FF2B5EF4-FFF2-40B4-BE49-F238E27FC236}">
                <a16:creationId xmlns:a16="http://schemas.microsoft.com/office/drawing/2014/main" id="{D8CEAC55-7BA5-4C12-B8A6-57A1B2A5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FF63"/>
                </a:solidFill>
              </a:defRPr>
            </a:pPr>
            <a:r>
              <a:rPr sz="2100" b="1">
                <a:solidFill>
                  <a:srgbClr val="D9FF63"/>
                </a:solidFill>
              </a:rPr>
              <a:t>⌁</a:t>
            </a:r>
          </a:p>
        </p:txBody>
      </p:sp>
      <p:sp>
        <p:nvSpPr>
          <p:cNvPr id="2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0E68AE99-9FC6-4F49-A0C5-1C1B479E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1ED"/>
                </a:solidFill>
              </a:defRPr>
            </a:pPr>
            <a:r>
              <a:rPr sz="1500" b="1">
                <a:solidFill>
                  <a:srgbClr val="EDF1ED"/>
                </a:solidFill>
              </a:rPr>
              <a:t>COGNI</a:t>
            </a:r>
          </a:p>
        </p:txBody>
      </p:sp>
      <p:sp>
        <p:nvSpPr>
          <p:cNvPr id="3" name="brand-wordmark-run">
            <a:extLst xmlns:a="http://schemas.openxmlformats.org/drawingml/2006/main">
              <a:ext uri="{FF2B5EF4-FFF2-40B4-BE49-F238E27FC236}">
                <a16:creationId xmlns:a16="http://schemas.microsoft.com/office/drawing/2014/main" id="{C40CD9D3-51F2-454A-BAFC-4B7097A2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43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FF63"/>
                </a:solidFill>
              </a:defRPr>
            </a:pPr>
            <a:r>
              <a:rPr sz="1500" b="1">
                <a:solidFill>
                  <a:srgbClr val="D9FF63"/>
                </a:solidFill>
              </a:rPr>
              <a:t>RUN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F71B07DF-5EF6-481B-A6EF-4F26AD37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63"/>
                </a:solidFill>
              </a:defRPr>
            </a:pPr>
            <a:r>
              <a:rPr sz="1200" b="1">
                <a:solidFill>
                  <a:srgbClr val="D9FF63"/>
                </a:solidFill>
              </a:rPr>
              <a:t>THE PRODUCT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802268C-8719-4F62-9BEA-F81E5894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DF1ED"/>
                </a:solidFill>
              </a:defRPr>
            </a:pPr>
            <a:r>
              <a:rPr sz="3150" b="1">
                <a:solidFill>
                  <a:srgbClr val="EDF1ED"/>
                </a:solidFill>
              </a:rPr>
              <a:t>RUN. HEAR. ANSWER. FIND YOUR ZONE.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fb39a7eaa4a98"/>
          <a:srcRect xmlns:a="http://schemas.openxmlformats.org/drawingml/2006/main" l="0" t="58" r="0" b="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52625"/>
            <a:ext cx="8239125" cy="462915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  <p:sp>
        <p:nvSpPr>
          <p:cNvPr id="7" name="side-rule">
            <a:extLst xmlns:a="http://schemas.openxmlformats.org/drawingml/2006/main">
              <a:ext uri="{FF2B5EF4-FFF2-40B4-BE49-F238E27FC236}">
                <a16:creationId xmlns:a16="http://schemas.microsoft.com/office/drawing/2014/main" id="{2A6BE640-0573-470F-AF76-9C4D5DFD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476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one">
            <a:extLst xmlns:a="http://schemas.openxmlformats.org/drawingml/2006/main">
              <a:ext uri="{FF2B5EF4-FFF2-40B4-BE49-F238E27FC236}">
                <a16:creationId xmlns:a16="http://schemas.microsoft.com/office/drawing/2014/main" id="{D45F9181-67B9-4F52-A099-6968C46C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195FF"/>
                </a:solidFill>
              </a:defRPr>
            </a:pPr>
            <a:r>
              <a:rPr sz="1350" b="1">
                <a:solidFill>
                  <a:srgbClr val="B195FF"/>
                </a:solidFill>
              </a:rPr>
              <a:t>01  PROMPT</a:t>
            </a:r>
          </a:p>
        </p:txBody>
      </p:sp>
      <p:sp>
        <p:nvSpPr>
          <p:cNvPr id="9" name="step-one-body">
            <a:extLst xmlns:a="http://schemas.openxmlformats.org/drawingml/2006/main">
              <a:ext uri="{FF2B5EF4-FFF2-40B4-BE49-F238E27FC236}">
                <a16:creationId xmlns:a16="http://schemas.microsoft.com/office/drawing/2014/main" id="{12DD1E17-7632-45E5-AA1D-8CB06420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288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1ED"/>
                </a:solidFill>
              </a:defRPr>
            </a:pPr>
            <a:r>
              <a:rPr sz="1500" b="1">
                <a:solidFill>
                  <a:srgbClr val="EDF1ED"/>
                </a:solidFill>
              </a:rPr>
              <a:t>Question reaches headphones and watch.</a:t>
            </a:r>
          </a:p>
        </p:txBody>
      </p:sp>
      <p:sp>
        <p:nvSpPr>
          <p:cNvPr id="10" name="step-two">
            <a:extLst xmlns:a="http://schemas.openxmlformats.org/drawingml/2006/main">
              <a:ext uri="{FF2B5EF4-FFF2-40B4-BE49-F238E27FC236}">
                <a16:creationId xmlns:a16="http://schemas.microsoft.com/office/drawing/2014/main" id="{6A5828B4-C421-48C4-AD8B-51E14A07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81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05C"/>
                </a:solidFill>
              </a:defRPr>
            </a:pPr>
            <a:r>
              <a:rPr sz="1350" b="1">
                <a:solidFill>
                  <a:srgbClr val="FF705C"/>
                </a:solidFill>
              </a:rPr>
              <a:t>02  ANSWER</a:t>
            </a:r>
          </a:p>
        </p:txBody>
      </p:sp>
      <p:sp>
        <p:nvSpPr>
          <p:cNvPr id="11" name="step-two-body">
            <a:extLst xmlns:a="http://schemas.openxmlformats.org/drawingml/2006/main">
              <a:ext uri="{FF2B5EF4-FFF2-40B4-BE49-F238E27FC236}">
                <a16:creationId xmlns:a16="http://schemas.microsoft.com/office/drawing/2014/main" id="{5E96D626-8299-445E-A103-BC06B10E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1ED"/>
                </a:solidFill>
              </a:defRPr>
            </a:pPr>
            <a:r>
              <a:rPr sz="1500" b="1">
                <a:solidFill>
                  <a:srgbClr val="EDF1ED"/>
                </a:solidFill>
              </a:rPr>
              <a:t>Speech becomes a timestamped response.</a:t>
            </a:r>
          </a:p>
        </p:txBody>
      </p:sp>
      <p:sp>
        <p:nvSpPr>
          <p:cNvPr id="12" name="step-three">
            <a:extLst xmlns:a="http://schemas.openxmlformats.org/drawingml/2006/main">
              <a:ext uri="{FF2B5EF4-FFF2-40B4-BE49-F238E27FC236}">
                <a16:creationId xmlns:a16="http://schemas.microsoft.com/office/drawing/2014/main" id="{CC660710-F1C7-4036-946F-654C3C68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667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E6B0"/>
                </a:solidFill>
              </a:defRPr>
            </a:pPr>
            <a:r>
              <a:rPr sz="1350" b="1">
                <a:solidFill>
                  <a:srgbClr val="64E6B0"/>
                </a:solidFill>
              </a:rPr>
              <a:t>03  MAP</a:t>
            </a:r>
          </a:p>
        </p:txBody>
      </p:sp>
      <p:sp>
        <p:nvSpPr>
          <p:cNvPr id="13" name="step-three-body">
            <a:extLst xmlns:a="http://schemas.openxmlformats.org/drawingml/2006/main">
              <a:ext uri="{FF2B5EF4-FFF2-40B4-BE49-F238E27FC236}">
                <a16:creationId xmlns:a16="http://schemas.microsoft.com/office/drawing/2014/main" id="{C2997BFA-53AB-489F-B0B9-1747832F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000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1ED"/>
                </a:solidFill>
              </a:defRPr>
            </a:pPr>
            <a:r>
              <a:rPr sz="1500" b="1">
                <a:solidFill>
                  <a:srgbClr val="EDF1ED"/>
                </a:solidFill>
              </a:rPr>
              <a:t>Performance is compared with body state.</a:t>
            </a:r>
          </a:p>
        </p:txBody>
      </p:sp>
      <p:sp>
        <p:nvSpPr>
          <p:cNvPr id="14" name="integration-footer">
            <a:extLst xmlns:a="http://schemas.openxmlformats.org/drawingml/2006/main">
              <a:ext uri="{FF2B5EF4-FFF2-40B4-BE49-F238E27FC236}">
                <a16:creationId xmlns:a16="http://schemas.microsoft.com/office/drawing/2014/main" id="{3577FADB-F85B-42E2-85C4-098B1263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7A39D"/>
                </a:solidFill>
              </a:defRPr>
            </a:pPr>
            <a:r>
              <a:rPr sz="975" b="1">
                <a:solidFill>
                  <a:srgbClr val="97A39D"/>
                </a:solidFill>
              </a:rPr>
              <a:t>ROXFIT → BODY STATE     VOICE → HANDS-FREE     COGNIRUN → PROTOCOL + INTERPRETATION</a:t>
            </a:r>
          </a:p>
        </p:txBody>
      </p:sp>
      <p:sp>
        <p:nvSpPr>
          <p:cNvPr id="15" name="demo-label">
            <a:extLst xmlns:a="http://schemas.openxmlformats.org/drawingml/2006/main">
              <a:ext uri="{FF2B5EF4-FFF2-40B4-BE49-F238E27FC236}">
                <a16:creationId xmlns:a16="http://schemas.microsoft.com/office/drawing/2014/main" id="{65E6BEF9-1EAB-466A-A00F-4CE6DE64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7A39D"/>
                </a:solidFill>
              </a:defRPr>
            </a:pPr>
            <a:r>
              <a:rPr sz="750" b="0">
                <a:solidFill>
                  <a:srgbClr val="97A39D"/>
                </a:solidFill>
              </a:rPr>
              <a:t>ILLUSTRATIVE PRODUCT DEMO · SYNTHETIC TELEMETRY</a:t>
            </a:r>
          </a:p>
        </p:txBody>
      </p:sp>
    </p:spTree>
    <p:extLst>
      <p:ext uri="{BB962C8B-B14F-4D97-AF65-F5344CB8AC3E}">
        <p14:creationId xmlns:p14="http://schemas.microsoft.com/office/powerpoint/2010/main" val="313856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157c2878c4a8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market-overlay">
            <a:extLst xmlns:a="http://schemas.openxmlformats.org/drawingml/2006/main">
              <a:ext uri="{FF2B5EF4-FFF2-40B4-BE49-F238E27FC236}">
                <a16:creationId xmlns:a16="http://schemas.microsoft.com/office/drawing/2014/main" id="{0B3C0BC7-0C42-4314-8801-93AB5EC0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0D">
              <a:alpha val="9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pulse">
            <a:extLst xmlns:a="http://schemas.openxmlformats.org/drawingml/2006/main">
              <a:ext uri="{FF2B5EF4-FFF2-40B4-BE49-F238E27FC236}">
                <a16:creationId xmlns:a16="http://schemas.microsoft.com/office/drawing/2014/main" id="{E5958834-1EAC-4BF0-B2A6-BCCAF20D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FF63"/>
                </a:solidFill>
              </a:defRPr>
            </a:pPr>
            <a:r>
              <a:rPr sz="2100" b="1">
                <a:solidFill>
                  <a:srgbClr val="D9FF63"/>
                </a:solidFill>
              </a:rPr>
              <a:t>⌁</a:t>
            </a:r>
          </a:p>
        </p:txBody>
      </p:sp>
      <p:sp>
        <p:nvSpPr>
          <p:cNvPr id="4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67014768-8294-4735-A1DA-F9F97FA5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1ED"/>
                </a:solidFill>
              </a:defRPr>
            </a:pPr>
            <a:r>
              <a:rPr sz="1500" b="1">
                <a:solidFill>
                  <a:srgbClr val="EDF1ED"/>
                </a:solidFill>
              </a:rPr>
              <a:t>COGNI</a:t>
            </a:r>
          </a:p>
        </p:txBody>
      </p:sp>
      <p:sp>
        <p:nvSpPr>
          <p:cNvPr id="5" name="brand-wordmark-run">
            <a:extLst xmlns:a="http://schemas.openxmlformats.org/drawingml/2006/main">
              <a:ext uri="{FF2B5EF4-FFF2-40B4-BE49-F238E27FC236}">
                <a16:creationId xmlns:a16="http://schemas.microsoft.com/office/drawing/2014/main" id="{644C0019-1C9F-4401-A0C9-8D301FE6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43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FF63"/>
                </a:solidFill>
              </a:defRPr>
            </a:pPr>
            <a:r>
              <a:rPr sz="1500" b="1">
                <a:solidFill>
                  <a:srgbClr val="D9FF63"/>
                </a:solidFill>
              </a:rPr>
              <a:t>RUN</a:t>
            </a:r>
          </a:p>
        </p:txBody>
      </p:sp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1CBE9548-1041-4413-8ADB-EA0B6072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63"/>
                </a:solidFill>
              </a:defRPr>
            </a:pPr>
            <a:r>
              <a:rPr sz="1200" b="1">
                <a:solidFill>
                  <a:srgbClr val="D9FF63"/>
                </a:solidFill>
              </a:rPr>
              <a:t>GO-TO-MARKET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3C02F3B-DDC2-4432-BDB6-B2633B26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DF1ED"/>
                </a:solidFill>
              </a:defRPr>
            </a:pPr>
            <a:r>
              <a:rPr sz="3150" b="1">
                <a:solidFill>
                  <a:srgbClr val="EDF1ED"/>
                </a:solidFill>
              </a:rPr>
              <a:t>ONE PRODUCT. THREE WAYS TO SCALE.</a:t>
            </a:r>
          </a:p>
        </p:txBody>
      </p:sp>
      <p:sp>
        <p:nvSpPr>
          <p:cNvPr id="8" name="market-top-rule">
            <a:extLst xmlns:a="http://schemas.openxmlformats.org/drawingml/2006/main">
              <a:ext uri="{FF2B5EF4-FFF2-40B4-BE49-F238E27FC236}">
                <a16:creationId xmlns:a16="http://schemas.microsoft.com/office/drawing/2014/main" id="{B3F3AB45-6B85-406F-A549-77AF5EC0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rket-divider-1">
            <a:extLst xmlns:a="http://schemas.openxmlformats.org/drawingml/2006/main">
              <a:ext uri="{FF2B5EF4-FFF2-40B4-BE49-F238E27FC236}">
                <a16:creationId xmlns:a16="http://schemas.microsoft.com/office/drawing/2014/main" id="{2762FE17-8F71-429C-B9BD-7F1031D7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rket-divider-2">
            <a:extLst xmlns:a="http://schemas.openxmlformats.org/drawingml/2006/main">
              <a:ext uri="{FF2B5EF4-FFF2-40B4-BE49-F238E27FC236}">
                <a16:creationId xmlns:a16="http://schemas.microsoft.com/office/drawing/2014/main" id="{17470E3F-7827-4BB2-A9E4-F8A109D4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dividual-icon">
            <a:extLst xmlns:a="http://schemas.openxmlformats.org/drawingml/2006/main">
              <a:ext uri="{FF2B5EF4-FFF2-40B4-BE49-F238E27FC236}">
                <a16:creationId xmlns:a16="http://schemas.microsoft.com/office/drawing/2014/main" id="{D36C50CB-F3B3-4627-9BCA-85E5C268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1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EDF1ED"/>
                </a:solidFill>
              </a:defRPr>
            </a:pPr>
            <a:r>
              <a:rPr sz="3000" b="0">
                <a:solidFill>
                  <a:srgbClr val="EDF1ED"/>
                </a:solidFill>
              </a:rPr>
              <a:t>🏃</a:t>
            </a:r>
          </a:p>
        </p:txBody>
      </p:sp>
      <p:sp>
        <p:nvSpPr>
          <p:cNvPr id="12" name="individual-title">
            <a:extLst xmlns:a="http://schemas.openxmlformats.org/drawingml/2006/main">
              <a:ext uri="{FF2B5EF4-FFF2-40B4-BE49-F238E27FC236}">
                <a16:creationId xmlns:a16="http://schemas.microsoft.com/office/drawing/2014/main" id="{C03E33E2-B4B1-44E6-AE86-3BF45830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FF63"/>
                </a:solidFill>
              </a:defRPr>
            </a:pPr>
            <a:r>
              <a:rPr sz="1650" b="1">
                <a:solidFill>
                  <a:srgbClr val="D9FF63"/>
                </a:solidFill>
              </a:rPr>
              <a:t>INDIVIDUALS</a:t>
            </a:r>
          </a:p>
        </p:txBody>
      </p:sp>
      <p:sp>
        <p:nvSpPr>
          <p:cNvPr id="13" name="individual-body">
            <a:extLst xmlns:a="http://schemas.openxmlformats.org/drawingml/2006/main">
              <a:ext uri="{FF2B5EF4-FFF2-40B4-BE49-F238E27FC236}">
                <a16:creationId xmlns:a16="http://schemas.microsoft.com/office/drawing/2014/main" id="{3AADF8CD-D680-4174-8A85-9B0C4692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1ED"/>
                </a:solidFill>
              </a:defRPr>
            </a:pPr>
            <a:r>
              <a:rPr sz="1650" b="1">
                <a:solidFill>
                  <a:srgbClr val="EDF1ED"/>
                </a:solidFill>
              </a:rPr>
              <a:t>Train body + brain.</a:t>
            </a:r>
          </a:p>
          <a:p xmlns:a="http://schemas.openxmlformats.org/drawingml/2006/main">
            <a:pPr algn="l">
              <a:defRPr sz="1650" b="1">
                <a:solidFill>
                  <a:srgbClr val="EDF1ED"/>
                </a:solidFill>
              </a:defRPr>
            </a:pPr>
            <a:r>
              <a:rPr sz="1650" b="1">
                <a:solidFill>
                  <a:srgbClr val="EDF1ED"/>
                </a:solidFill>
              </a:rPr>
              <a:t>Interview answers.</a:t>
            </a:r>
          </a:p>
          <a:p xmlns:a="http://schemas.openxmlformats.org/drawingml/2006/main">
            <a:pPr algn="l">
              <a:defRPr sz="1650" b="1">
                <a:solidFill>
                  <a:srgbClr val="EDF1ED"/>
                </a:solidFill>
              </a:defRPr>
            </a:pPr>
            <a:r>
              <a:rPr sz="1650" b="1">
                <a:solidFill>
                  <a:srgbClr val="EDF1ED"/>
                </a:solidFill>
              </a:rPr>
              <a:t>Driving theory.</a:t>
            </a:r>
          </a:p>
          <a:p xmlns:a="http://schemas.openxmlformats.org/drawingml/2006/main">
            <a:pPr algn="l">
              <a:defRPr sz="1650" b="1">
                <a:solidFill>
                  <a:srgbClr val="EDF1ED"/>
                </a:solidFill>
              </a:defRPr>
            </a:pPr>
            <a:r>
              <a:rPr sz="1650" b="1">
                <a:solidFill>
                  <a:srgbClr val="EDF1ED"/>
                </a:solidFill>
              </a:rPr>
              <a:t>Memory drills.</a:t>
            </a:r>
          </a:p>
        </p:txBody>
      </p:sp>
      <p:sp>
        <p:nvSpPr>
          <p:cNvPr id="14" name="individual-model">
            <a:extLst xmlns:a="http://schemas.openxmlformats.org/drawingml/2006/main">
              <a:ext uri="{FF2B5EF4-FFF2-40B4-BE49-F238E27FC236}">
                <a16:creationId xmlns:a16="http://schemas.microsoft.com/office/drawing/2014/main" id="{6CB36FBC-638F-4B0E-8D1D-9239622F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7A39D"/>
                </a:solidFill>
              </a:defRPr>
            </a:pPr>
            <a:r>
              <a:rPr sz="1200" b="0">
                <a:solidFill>
                  <a:srgbClr val="97A39D"/>
                </a:solidFill>
              </a:rPr>
              <a:t>Focused packs + subscription</a:t>
            </a:r>
          </a:p>
        </p:txBody>
      </p:sp>
      <p:sp>
        <p:nvSpPr>
          <p:cNvPr id="15" name="science-icon">
            <a:extLst xmlns:a="http://schemas.openxmlformats.org/drawingml/2006/main">
              <a:ext uri="{FF2B5EF4-FFF2-40B4-BE49-F238E27FC236}">
                <a16:creationId xmlns:a16="http://schemas.microsoft.com/office/drawing/2014/main" id="{9B1C828D-4C82-41D4-8B9F-95316485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61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EDF1ED"/>
                </a:solidFill>
              </a:defRPr>
            </a:pPr>
            <a:r>
              <a:rPr sz="3000" b="0">
                <a:solidFill>
                  <a:srgbClr val="EDF1ED"/>
                </a:solidFill>
              </a:rPr>
              <a:t>🔬</a:t>
            </a:r>
          </a:p>
        </p:txBody>
      </p:sp>
      <p:sp>
        <p:nvSpPr>
          <p:cNvPr id="16" name="science-title">
            <a:extLst xmlns:a="http://schemas.openxmlformats.org/drawingml/2006/main">
              <a:ext uri="{FF2B5EF4-FFF2-40B4-BE49-F238E27FC236}">
                <a16:creationId xmlns:a16="http://schemas.microsoft.com/office/drawing/2014/main" id="{C8539D0E-8B3E-4FE1-B120-4D01EB3C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195FF"/>
                </a:solidFill>
              </a:defRPr>
            </a:pPr>
            <a:r>
              <a:rPr sz="1650" b="1">
                <a:solidFill>
                  <a:srgbClr val="B195FF"/>
                </a:solidFill>
              </a:rPr>
              <a:t>SCIENTISTS</a:t>
            </a:r>
          </a:p>
        </p:txBody>
      </p:sp>
      <p:sp>
        <p:nvSpPr>
          <p:cNvPr id="17" name="science-body">
            <a:extLst xmlns:a="http://schemas.openxmlformats.org/drawingml/2006/main">
              <a:ext uri="{FF2B5EF4-FFF2-40B4-BE49-F238E27FC236}">
                <a16:creationId xmlns:a16="http://schemas.microsoft.com/office/drawing/2014/main" id="{E4DCF19F-ACDC-4F83-B583-5F78B76A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1ED"/>
                </a:solidFill>
              </a:defRPr>
            </a:pPr>
            <a:r>
              <a:rPr sz="1650" b="1">
                <a:solidFill>
                  <a:srgbClr val="EDF1ED"/>
                </a:solidFill>
              </a:rPr>
              <a:t>Publish a protocol.</a:t>
            </a:r>
          </a:p>
          <a:p xmlns:a="http://schemas.openxmlformats.org/drawingml/2006/main">
            <a:pPr algn="l">
              <a:defRPr sz="1650" b="1">
                <a:solidFill>
                  <a:srgbClr val="EDF1ED"/>
                </a:solidFill>
              </a:defRPr>
            </a:pPr>
            <a:r>
              <a:rPr sz="1650" b="1">
                <a:solidFill>
                  <a:srgbClr val="EDF1ED"/>
                </a:solidFill>
              </a:rPr>
              <a:t>Turn it into a challenge.</a:t>
            </a:r>
          </a:p>
          <a:p xmlns:a="http://schemas.openxmlformats.org/drawingml/2006/main">
            <a:pPr algn="l">
              <a:defRPr sz="1650" b="1">
                <a:solidFill>
                  <a:srgbClr val="EDF1ED"/>
                </a:solidFill>
              </a:defRPr>
            </a:pPr>
            <a:r>
              <a:rPr sz="1650" b="1">
                <a:solidFill>
                  <a:srgbClr val="EDF1ED"/>
                </a:solidFill>
              </a:rPr>
              <a:t>Simple opt-in enrollment.</a:t>
            </a:r>
          </a:p>
          <a:p xmlns:a="http://schemas.openxmlformats.org/drawingml/2006/main">
            <a:pPr algn="l">
              <a:defRPr sz="1650" b="1">
                <a:solidFill>
                  <a:srgbClr val="EDF1ED"/>
                </a:solidFill>
              </a:defRPr>
            </a:pPr>
            <a:r>
              <a:rPr sz="1650" b="1">
                <a:solidFill>
                  <a:srgbClr val="EDF1ED"/>
                </a:solidFill>
              </a:rPr>
              <a:t>Exportable study data.</a:t>
            </a:r>
          </a:p>
        </p:txBody>
      </p:sp>
      <p:sp>
        <p:nvSpPr>
          <p:cNvPr id="18" name="science-model">
            <a:extLst xmlns:a="http://schemas.openxmlformats.org/drawingml/2006/main">
              <a:ext uri="{FF2B5EF4-FFF2-40B4-BE49-F238E27FC236}">
                <a16:creationId xmlns:a16="http://schemas.microsoft.com/office/drawing/2014/main" id="{0B695E4E-D081-49BC-ABAD-8D5A5337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7A39D"/>
                </a:solidFill>
              </a:defRPr>
            </a:pPr>
            <a:r>
              <a:rPr sz="1200" b="0">
                <a:solidFill>
                  <a:srgbClr val="97A39D"/>
                </a:solidFill>
              </a:rPr>
              <a:t>Research challenge platform</a:t>
            </a:r>
          </a:p>
        </p:txBody>
      </p:sp>
      <p:sp>
        <p:nvSpPr>
          <p:cNvPr id="19" name="business-icon">
            <a:extLst xmlns:a="http://schemas.openxmlformats.org/drawingml/2006/main">
              <a:ext uri="{FF2B5EF4-FFF2-40B4-BE49-F238E27FC236}">
                <a16:creationId xmlns:a16="http://schemas.microsoft.com/office/drawing/2014/main" id="{0424FDFD-3729-47BC-9FD5-52C90E59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61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EDF1ED"/>
                </a:solidFill>
              </a:defRPr>
            </a:pPr>
            <a:r>
              <a:rPr sz="3000" b="0">
                <a:solidFill>
                  <a:srgbClr val="EDF1ED"/>
                </a:solidFill>
              </a:rPr>
              <a:t>💼</a:t>
            </a:r>
          </a:p>
        </p:txBody>
      </p:sp>
      <p:sp>
        <p:nvSpPr>
          <p:cNvPr id="20" name="business-title">
            <a:extLst xmlns:a="http://schemas.openxmlformats.org/drawingml/2006/main">
              <a:ext uri="{FF2B5EF4-FFF2-40B4-BE49-F238E27FC236}">
                <a16:creationId xmlns:a16="http://schemas.microsoft.com/office/drawing/2014/main" id="{FDF6820F-4ADF-47D6-B879-3E267D10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05C"/>
                </a:solidFill>
              </a:defRPr>
            </a:pPr>
            <a:r>
              <a:rPr sz="1650" b="1">
                <a:solidFill>
                  <a:srgbClr val="FF705C"/>
                </a:solidFill>
              </a:rPr>
              <a:t>BUSINESS</a:t>
            </a:r>
          </a:p>
        </p:txBody>
      </p:sp>
      <p:sp>
        <p:nvSpPr>
          <p:cNvPr id="21" name="business-body">
            <a:extLst xmlns:a="http://schemas.openxmlformats.org/drawingml/2006/main">
              <a:ext uri="{FF2B5EF4-FFF2-40B4-BE49-F238E27FC236}">
                <a16:creationId xmlns:a16="http://schemas.microsoft.com/office/drawing/2014/main" id="{E87910DC-EAA5-4936-B14F-2C192A9F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766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1ED"/>
                </a:solidFill>
              </a:defRPr>
            </a:pPr>
            <a:r>
              <a:rPr sz="1650" b="1">
                <a:solidFill>
                  <a:srgbClr val="EDF1ED"/>
                </a:solidFill>
              </a:rPr>
              <a:t>Sponsor question packs.</a:t>
            </a:r>
          </a:p>
          <a:p xmlns:a="http://schemas.openxmlformats.org/drawingml/2006/main">
            <a:pPr algn="l">
              <a:defRPr sz="1650" b="1">
                <a:solidFill>
                  <a:srgbClr val="EDF1ED"/>
                </a:solidFill>
              </a:defRPr>
            </a:pPr>
            <a:r>
              <a:rPr sz="1650" b="1">
                <a:solidFill>
                  <a:srgbClr val="EDF1ED"/>
                </a:solidFill>
              </a:rPr>
              <a:t>Fund prizes.</a:t>
            </a:r>
          </a:p>
          <a:p xmlns:a="http://schemas.openxmlformats.org/drawingml/2006/main">
            <a:pPr algn="l">
              <a:defRPr sz="1650" b="1">
                <a:solidFill>
                  <a:srgbClr val="EDF1ED"/>
                </a:solidFill>
              </a:defRPr>
            </a:pPr>
            <a:r>
              <a:rPr sz="1650" b="1">
                <a:solidFill>
                  <a:srgbClr val="EDF1ED"/>
                </a:solidFill>
              </a:rPr>
              <a:t>Own a challenge theme.</a:t>
            </a:r>
          </a:p>
          <a:p xmlns:a="http://schemas.openxmlformats.org/drawingml/2006/main">
            <a:pPr algn="l">
              <a:defRPr sz="1650" b="1">
                <a:solidFill>
                  <a:srgbClr val="EDF1ED"/>
                </a:solidFill>
              </a:defRPr>
            </a:pPr>
            <a:r>
              <a:rPr sz="1650" b="1">
                <a:solidFill>
                  <a:srgbClr val="EDF1ED"/>
                </a:solidFill>
              </a:rPr>
              <a:t>Reach people in motion.</a:t>
            </a:r>
          </a:p>
        </p:txBody>
      </p:sp>
      <p:sp>
        <p:nvSpPr>
          <p:cNvPr id="22" name="business-model">
            <a:extLst xmlns:a="http://schemas.openxmlformats.org/drawingml/2006/main">
              <a:ext uri="{FF2B5EF4-FFF2-40B4-BE49-F238E27FC236}">
                <a16:creationId xmlns:a16="http://schemas.microsoft.com/office/drawing/2014/main" id="{A6633D2C-8E77-4B64-8888-C8194F5F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95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7A39D"/>
                </a:solidFill>
              </a:defRPr>
            </a:pPr>
            <a:r>
              <a:rPr sz="1200" b="0">
                <a:solidFill>
                  <a:srgbClr val="97A39D"/>
                </a:solidFill>
              </a:rPr>
              <a:t>Sponsored packs + challenges</a:t>
            </a:r>
          </a:p>
        </p:txBody>
      </p:sp>
      <p:sp>
        <p:nvSpPr>
          <p:cNvPr id="23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74C2F575-991B-4362-A19B-E622F9C5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830CC10A-2F2C-4152-9DF4-463288DF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0B0D"/>
                </a:solidFill>
              </a:defRPr>
            </a:pPr>
            <a:r>
              <a:rPr sz="2025" b="1">
                <a:solidFill>
                  <a:srgbClr val="080B0D"/>
                </a:solidFill>
              </a:rPr>
              <a:t>TRAIN THE BODY + BRAIN. RECRUIT THE STUDY. FUND THE CHALLENGE.</a:t>
            </a:r>
          </a:p>
        </p:txBody>
      </p:sp>
    </p:spTree>
    <p:extLst>
      <p:ext uri="{BB962C8B-B14F-4D97-AF65-F5344CB8AC3E}">
        <p14:creationId xmlns:p14="http://schemas.microsoft.com/office/powerpoint/2010/main" val="2145546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2026-08-29T17:51:34.1720000Z</dcterms:created>
  <dcterms:modified xsi:type="dcterms:W3CDTF">2026-08-29T17:51:34.1720000Z</dcterms:modified>
</coreProperties>
</file>